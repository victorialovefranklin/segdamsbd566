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pitchFamily="2" charset="0"/>
      <p:regular r:id="rId13"/>
      <p:bold r:id="rId14"/>
    </p:embeddedFont>
    <p:embeddedFont>
      <p:font typeface="PT Serif" panose="020A0603040505020204" pitchFamily="18"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6962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4.xml"/><Relationship Id="rId16" Type="http://schemas.openxmlformats.org/officeDocument/2006/relationships/image" Target="../media/image19.svg"/><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22.pn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6.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sv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36.png"/><Relationship Id="rId4"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0" y="0"/>
            <a:ext cx="5486400" cy="8229600"/>
          </a:xfrm>
          <a:prstGeom prst="rect">
            <a:avLst/>
          </a:prstGeom>
          <a:solidFill>
            <a:srgbClr val="DFDFE0"/>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1"/>
          <p:cNvSpPr/>
          <p:nvPr/>
        </p:nvSpPr>
        <p:spPr>
          <a:xfrm>
            <a:off x="793790" y="2269808"/>
            <a:ext cx="7556421" cy="1302544"/>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Predictive Modeling and Analytics</a:t>
            </a:r>
            <a:endParaRPr lang="en-US" sz="4100" dirty="0"/>
          </a:p>
        </p:txBody>
      </p:sp>
      <p:sp>
        <p:nvSpPr>
          <p:cNvPr id="5" name="Shape 2"/>
          <p:cNvSpPr/>
          <p:nvPr/>
        </p:nvSpPr>
        <p:spPr>
          <a:xfrm>
            <a:off x="793790" y="3870008"/>
            <a:ext cx="2148364" cy="373142"/>
          </a:xfrm>
          <a:prstGeom prst="roundRect">
            <a:avLst>
              <a:gd name="adj" fmla="val 6383"/>
            </a:avLst>
          </a:prstGeom>
          <a:solidFill>
            <a:srgbClr val="FFDECC"/>
          </a:solidFill>
          <a:ln/>
        </p:spPr>
        <p:txBody>
          <a:bodyPr/>
          <a:lstStyle/>
          <a:p>
            <a:endParaRPr lang="en-US"/>
          </a:p>
        </p:txBody>
      </p:sp>
      <p:sp>
        <p:nvSpPr>
          <p:cNvPr id="6" name="Text 3"/>
          <p:cNvSpPr/>
          <p:nvPr/>
        </p:nvSpPr>
        <p:spPr>
          <a:xfrm>
            <a:off x="912852" y="3929539"/>
            <a:ext cx="1910239"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MSBD566 FINAL PROJECT</a:t>
            </a:r>
            <a:endParaRPr lang="en-US" sz="1250" dirty="0"/>
          </a:p>
        </p:txBody>
      </p:sp>
      <p:sp>
        <p:nvSpPr>
          <p:cNvPr id="7" name="Text 4"/>
          <p:cNvSpPr/>
          <p:nvPr/>
        </p:nvSpPr>
        <p:spPr>
          <a:xfrm>
            <a:off x="793790" y="4466392"/>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Using advanced machine learning to predict heat illness rates across California counties and support environmental justice initiatives</a:t>
            </a:r>
            <a:endParaRPr lang="en-US" sz="1550" dirty="0"/>
          </a:p>
        </p:txBody>
      </p:sp>
      <p:sp>
        <p:nvSpPr>
          <p:cNvPr id="8" name="Text 5"/>
          <p:cNvSpPr/>
          <p:nvPr/>
        </p:nvSpPr>
        <p:spPr>
          <a:xfrm>
            <a:off x="793790" y="5324713"/>
            <a:ext cx="7556421" cy="635079"/>
          </a:xfrm>
          <a:prstGeom prst="rect">
            <a:avLst/>
          </a:prstGeom>
          <a:noFill/>
          <a:ln/>
        </p:spPr>
        <p:txBody>
          <a:bodyPr wrap="squar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Victoria Love Franklin</a:t>
            </a:r>
            <a:r>
              <a:rPr lang="en-US" sz="1550" dirty="0">
                <a:solidFill>
                  <a:srgbClr val="383838"/>
                </a:solidFill>
                <a:latin typeface="DM Sans" pitchFamily="34" charset="0"/>
                <a:ea typeface="DM Sans" pitchFamily="34" charset="-122"/>
                <a:cs typeface="DM Sans" pitchFamily="34" charset="-120"/>
              </a:rPr>
              <a:t> | PhD Pre-Candidate, Data Science | Meharry Medical College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921550"/>
            <a:ext cx="2098477" cy="388382"/>
          </a:xfrm>
          <a:prstGeom prst="roundRect">
            <a:avLst>
              <a:gd name="adj" fmla="val 6132"/>
            </a:avLst>
          </a:prstGeom>
          <a:noFill/>
          <a:ln w="7620">
            <a:solidFill>
              <a:srgbClr val="E04F00"/>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0472" y="2036326"/>
            <a:ext cx="158710" cy="158710"/>
          </a:xfrm>
          <a:prstGeom prst="rect">
            <a:avLst/>
          </a:prstGeom>
        </p:spPr>
      </p:pic>
      <p:sp>
        <p:nvSpPr>
          <p:cNvPr id="4" name="Text 1"/>
          <p:cNvSpPr/>
          <p:nvPr/>
        </p:nvSpPr>
        <p:spPr>
          <a:xfrm>
            <a:off x="1158478" y="1988701"/>
            <a:ext cx="1607106" cy="254079"/>
          </a:xfrm>
          <a:prstGeom prst="rect">
            <a:avLst/>
          </a:prstGeom>
          <a:noFill/>
          <a:ln/>
        </p:spPr>
        <p:txBody>
          <a:bodyPr wrap="none" lIns="0" tIns="0" rIns="0" bIns="0" rtlCol="0" anchor="t"/>
          <a:lstStyle/>
          <a:p>
            <a:pPr marL="0" indent="0" algn="l">
              <a:lnSpc>
                <a:spcPts val="2000"/>
              </a:lnSpc>
              <a:buNone/>
            </a:pPr>
            <a:r>
              <a:rPr lang="en-US" sz="1250" dirty="0">
                <a:solidFill>
                  <a:srgbClr val="E04F00"/>
                </a:solidFill>
                <a:latin typeface="DM Sans" pitchFamily="34" charset="0"/>
                <a:ea typeface="DM Sans" pitchFamily="34" charset="-122"/>
                <a:cs typeface="DM Sans" pitchFamily="34" charset="-120"/>
              </a:rPr>
              <a:t>EXECUTIVE SUMMARY</a:t>
            </a:r>
            <a:endParaRPr lang="en-US" sz="1250" dirty="0"/>
          </a:p>
        </p:txBody>
      </p:sp>
      <p:sp>
        <p:nvSpPr>
          <p:cNvPr id="5" name="Text 2"/>
          <p:cNvSpPr/>
          <p:nvPr/>
        </p:nvSpPr>
        <p:spPr>
          <a:xfrm>
            <a:off x="793790" y="2389227"/>
            <a:ext cx="10472142"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Predicting Heat Illness Through Data Science</a:t>
            </a:r>
            <a:endParaRPr lang="en-US" sz="4100" dirty="0"/>
          </a:p>
        </p:txBody>
      </p:sp>
      <p:sp>
        <p:nvSpPr>
          <p:cNvPr id="6" name="Shape 3"/>
          <p:cNvSpPr/>
          <p:nvPr/>
        </p:nvSpPr>
        <p:spPr>
          <a:xfrm>
            <a:off x="793790" y="3338155"/>
            <a:ext cx="4215289" cy="1794034"/>
          </a:xfrm>
          <a:prstGeom prst="roundRect">
            <a:avLst>
              <a:gd name="adj" fmla="val 1659"/>
            </a:avLst>
          </a:prstGeom>
          <a:solidFill>
            <a:srgbClr val="F2EEEE"/>
          </a:solidFill>
          <a:ln/>
        </p:spPr>
        <p:txBody>
          <a:bodyPr/>
          <a:lstStyle/>
          <a:p>
            <a:endParaRPr lang="en-US"/>
          </a:p>
        </p:txBody>
      </p:sp>
      <p:sp>
        <p:nvSpPr>
          <p:cNvPr id="7" name="Text 4"/>
          <p:cNvSpPr/>
          <p:nvPr/>
        </p:nvSpPr>
        <p:spPr>
          <a:xfrm>
            <a:off x="992148" y="353651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58% Reduction</a:t>
            </a:r>
            <a:endParaRPr lang="en-US" sz="2050" dirty="0"/>
          </a:p>
        </p:txBody>
      </p:sp>
      <p:sp>
        <p:nvSpPr>
          <p:cNvPr id="8" name="Text 5"/>
          <p:cNvSpPr/>
          <p:nvPr/>
        </p:nvSpPr>
        <p:spPr>
          <a:xfrm>
            <a:off x="992148" y="3981212"/>
            <a:ext cx="38185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Dimensionality reduced from 12 to 5 features using PCA while retaining 98.5% of variance</a:t>
            </a:r>
            <a:endParaRPr lang="en-US" sz="1550" dirty="0"/>
          </a:p>
        </p:txBody>
      </p:sp>
      <p:sp>
        <p:nvSpPr>
          <p:cNvPr id="9" name="Shape 6"/>
          <p:cNvSpPr/>
          <p:nvPr/>
        </p:nvSpPr>
        <p:spPr>
          <a:xfrm>
            <a:off x="5207437" y="3338155"/>
            <a:ext cx="4215408" cy="1794034"/>
          </a:xfrm>
          <a:prstGeom prst="roundRect">
            <a:avLst>
              <a:gd name="adj" fmla="val 1659"/>
            </a:avLst>
          </a:prstGeom>
          <a:solidFill>
            <a:srgbClr val="F2EEEE"/>
          </a:solidFill>
          <a:ln/>
        </p:spPr>
        <p:txBody>
          <a:bodyPr/>
          <a:lstStyle/>
          <a:p>
            <a:endParaRPr lang="en-US"/>
          </a:p>
        </p:txBody>
      </p:sp>
      <p:sp>
        <p:nvSpPr>
          <p:cNvPr id="10" name="Text 7"/>
          <p:cNvSpPr/>
          <p:nvPr/>
        </p:nvSpPr>
        <p:spPr>
          <a:xfrm>
            <a:off x="5405795" y="353651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104 Data Files</a:t>
            </a:r>
            <a:endParaRPr lang="en-US" sz="2050" dirty="0"/>
          </a:p>
        </p:txBody>
      </p:sp>
      <p:sp>
        <p:nvSpPr>
          <p:cNvPr id="11" name="Text 8"/>
          <p:cNvSpPr/>
          <p:nvPr/>
        </p:nvSpPr>
        <p:spPr>
          <a:xfrm>
            <a:off x="5405795" y="3981212"/>
            <a:ext cx="381869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Integrated multiple sources including CDC SVI, CalEnviroScreen, FEMA NRI, and power outage data</a:t>
            </a:r>
            <a:endParaRPr lang="en-US" sz="1550" dirty="0"/>
          </a:p>
        </p:txBody>
      </p:sp>
      <p:sp>
        <p:nvSpPr>
          <p:cNvPr id="12" name="Shape 9"/>
          <p:cNvSpPr/>
          <p:nvPr/>
        </p:nvSpPr>
        <p:spPr>
          <a:xfrm>
            <a:off x="9621203" y="3338155"/>
            <a:ext cx="4215289" cy="1794034"/>
          </a:xfrm>
          <a:prstGeom prst="roundRect">
            <a:avLst>
              <a:gd name="adj" fmla="val 1659"/>
            </a:avLst>
          </a:prstGeom>
          <a:solidFill>
            <a:srgbClr val="F2EEEE"/>
          </a:solidFill>
          <a:ln/>
        </p:spPr>
        <p:txBody>
          <a:bodyPr/>
          <a:lstStyle/>
          <a:p>
            <a:endParaRPr lang="en-US"/>
          </a:p>
        </p:txBody>
      </p:sp>
      <p:sp>
        <p:nvSpPr>
          <p:cNvPr id="13" name="Text 10"/>
          <p:cNvSpPr/>
          <p:nvPr/>
        </p:nvSpPr>
        <p:spPr>
          <a:xfrm>
            <a:off x="9819561" y="3536513"/>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2018-2023</a:t>
            </a:r>
            <a:endParaRPr lang="en-US" sz="2050" dirty="0"/>
          </a:p>
        </p:txBody>
      </p:sp>
      <p:sp>
        <p:nvSpPr>
          <p:cNvPr id="14" name="Text 11"/>
          <p:cNvSpPr/>
          <p:nvPr/>
        </p:nvSpPr>
        <p:spPr>
          <a:xfrm>
            <a:off x="9819561" y="3981212"/>
            <a:ext cx="3818573"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Six years of county-level data across 58 California counties analyzed</a:t>
            </a:r>
            <a:endParaRPr lang="en-US" sz="1550" dirty="0"/>
          </a:p>
        </p:txBody>
      </p:sp>
      <p:sp>
        <p:nvSpPr>
          <p:cNvPr id="15" name="Text 12"/>
          <p:cNvSpPr/>
          <p:nvPr/>
        </p:nvSpPr>
        <p:spPr>
          <a:xfrm>
            <a:off x="793790" y="5355431"/>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project applies Principal Component Analysis and neural networks (Feedforward MLP and LSTM) to predict heat illness rates using environmental and social determinants. The work directly supports Justice40 environmental equity initiatives by identifying high-risk communities before heat events occur.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147763"/>
            <a:ext cx="2089309" cy="373142"/>
          </a:xfrm>
          <a:prstGeom prst="roundRect">
            <a:avLst>
              <a:gd name="adj" fmla="val 6383"/>
            </a:avLst>
          </a:prstGeom>
          <a:solidFill>
            <a:srgbClr val="FFDECC"/>
          </a:solidFill>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1254919"/>
            <a:ext cx="158710" cy="158710"/>
          </a:xfrm>
          <a:prstGeom prst="rect">
            <a:avLst/>
          </a:prstGeom>
        </p:spPr>
      </p:pic>
      <p:sp>
        <p:nvSpPr>
          <p:cNvPr id="4" name="Text 1"/>
          <p:cNvSpPr/>
          <p:nvPr/>
        </p:nvSpPr>
        <p:spPr>
          <a:xfrm>
            <a:off x="1150858" y="1207294"/>
            <a:ext cx="1613178"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PROBLEM STATEMENT</a:t>
            </a:r>
            <a:endParaRPr lang="en-US" sz="1250" dirty="0"/>
          </a:p>
        </p:txBody>
      </p:sp>
      <p:sp>
        <p:nvSpPr>
          <p:cNvPr id="5" name="Text 2"/>
          <p:cNvSpPr/>
          <p:nvPr/>
        </p:nvSpPr>
        <p:spPr>
          <a:xfrm>
            <a:off x="793790" y="1600200"/>
            <a:ext cx="8847534"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Addressing Climate Health Disparities</a:t>
            </a:r>
            <a:endParaRPr lang="en-US" sz="4100" dirty="0"/>
          </a:p>
        </p:txBody>
      </p:sp>
      <p:sp>
        <p:nvSpPr>
          <p:cNvPr id="6" name="Text 3"/>
          <p:cNvSpPr/>
          <p:nvPr/>
        </p:nvSpPr>
        <p:spPr>
          <a:xfrm>
            <a:off x="793790" y="274748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The Challenge</a:t>
            </a:r>
            <a:endParaRPr lang="en-US" sz="2050" dirty="0"/>
          </a:p>
        </p:txBody>
      </p:sp>
      <p:sp>
        <p:nvSpPr>
          <p:cNvPr id="7" name="Text 4"/>
          <p:cNvSpPr/>
          <p:nvPr/>
        </p:nvSpPr>
        <p:spPr>
          <a:xfrm>
            <a:off x="793790" y="3271480"/>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Climate change disproportionately affects vulnerable communities, with heat-related illnesses posing significant public health risks. We need to identify high-risk communities before heat events occur and predict illness rates using environmental and social determinants.</a:t>
            </a:r>
            <a:endParaRPr lang="en-US" sz="1550" dirty="0"/>
          </a:p>
        </p:txBody>
      </p:sp>
      <p:sp>
        <p:nvSpPr>
          <p:cNvPr id="8" name="Text 5"/>
          <p:cNvSpPr/>
          <p:nvPr/>
        </p:nvSpPr>
        <p:spPr>
          <a:xfrm>
            <a:off x="793790" y="5037773"/>
            <a:ext cx="6279356"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Critical Needs:</a:t>
            </a:r>
            <a:endParaRPr lang="en-US" sz="1550" dirty="0"/>
          </a:p>
        </p:txBody>
      </p:sp>
      <p:sp>
        <p:nvSpPr>
          <p:cNvPr id="9" name="Text 6"/>
          <p:cNvSpPr/>
          <p:nvPr/>
        </p:nvSpPr>
        <p:spPr>
          <a:xfrm>
            <a:off x="793790" y="553390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Proactive public health interventions</a:t>
            </a:r>
            <a:endParaRPr lang="en-US" sz="1550" dirty="0"/>
          </a:p>
        </p:txBody>
      </p:sp>
      <p:sp>
        <p:nvSpPr>
          <p:cNvPr id="10" name="Text 7"/>
          <p:cNvSpPr/>
          <p:nvPr/>
        </p:nvSpPr>
        <p:spPr>
          <a:xfrm>
            <a:off x="793790" y="592085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Equitable resource allocation for climate adaptation</a:t>
            </a:r>
            <a:endParaRPr lang="en-US" sz="1550" dirty="0"/>
          </a:p>
        </p:txBody>
      </p:sp>
      <p:sp>
        <p:nvSpPr>
          <p:cNvPr id="11" name="Text 8"/>
          <p:cNvSpPr/>
          <p:nvPr/>
        </p:nvSpPr>
        <p:spPr>
          <a:xfrm>
            <a:off x="793790" y="6307812"/>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Data-driven cooling center placement</a:t>
            </a:r>
            <a:endParaRPr lang="en-US" sz="1550" dirty="0"/>
          </a:p>
        </p:txBody>
      </p:sp>
      <p:sp>
        <p:nvSpPr>
          <p:cNvPr id="12" name="Text 9"/>
          <p:cNvSpPr/>
          <p:nvPr/>
        </p:nvSpPr>
        <p:spPr>
          <a:xfrm>
            <a:off x="793790" y="6694765"/>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Support for disadvantaged communities</a:t>
            </a:r>
            <a:endParaRPr lang="en-US" sz="1550" dirty="0"/>
          </a:p>
        </p:txBody>
      </p:sp>
      <p:sp>
        <p:nvSpPr>
          <p:cNvPr id="13" name="Text 10"/>
          <p:cNvSpPr/>
          <p:nvPr/>
        </p:nvSpPr>
        <p:spPr>
          <a:xfrm>
            <a:off x="7564874" y="2747486"/>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Justice40 Alignment</a:t>
            </a:r>
            <a:endParaRPr lang="en-US" sz="2050" dirty="0"/>
          </a:p>
        </p:txBody>
      </p:sp>
      <p:sp>
        <p:nvSpPr>
          <p:cNvPr id="14" name="Text 11"/>
          <p:cNvSpPr/>
          <p:nvPr/>
        </p:nvSpPr>
        <p:spPr>
          <a:xfrm>
            <a:off x="7564874" y="3271480"/>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This work directly supports the Justice40 Initiative, ensuring 40% of federal climate benefits reach disadvantaged communities through:</a:t>
            </a:r>
            <a:endParaRPr lang="en-US" sz="1550" dirty="0"/>
          </a:p>
        </p:txBody>
      </p:sp>
      <p:sp>
        <p:nvSpPr>
          <p:cNvPr id="15" name="Text 12"/>
          <p:cNvSpPr/>
          <p:nvPr/>
        </p:nvSpPr>
        <p:spPr>
          <a:xfrm>
            <a:off x="7564874" y="408515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Environmental Justice:</a:t>
            </a:r>
            <a:r>
              <a:rPr lang="en-US" sz="1550" dirty="0">
                <a:solidFill>
                  <a:srgbClr val="383838"/>
                </a:solidFill>
                <a:latin typeface="DM Sans" pitchFamily="34" charset="0"/>
                <a:ea typeface="DM Sans" pitchFamily="34" charset="-122"/>
                <a:cs typeface="DM Sans" pitchFamily="34" charset="-120"/>
              </a:rPr>
              <a:t> Addressing health outcome disparities</a:t>
            </a:r>
            <a:endParaRPr lang="en-US" sz="1550" dirty="0"/>
          </a:p>
        </p:txBody>
      </p:sp>
      <p:sp>
        <p:nvSpPr>
          <p:cNvPr id="16" name="Text 13"/>
          <p:cNvSpPr/>
          <p:nvPr/>
        </p:nvSpPr>
        <p:spPr>
          <a:xfrm>
            <a:off x="7564874" y="4472107"/>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Public Health Planning:</a:t>
            </a:r>
            <a:r>
              <a:rPr lang="en-US" sz="1550" dirty="0">
                <a:solidFill>
                  <a:srgbClr val="383838"/>
                </a:solidFill>
                <a:latin typeface="DM Sans" pitchFamily="34" charset="0"/>
                <a:ea typeface="DM Sans" pitchFamily="34" charset="-122"/>
                <a:cs typeface="DM Sans" pitchFamily="34" charset="-120"/>
              </a:rPr>
              <a:t> Enabling data-driven resource allocation</a:t>
            </a:r>
            <a:endParaRPr lang="en-US" sz="1550" dirty="0"/>
          </a:p>
        </p:txBody>
      </p:sp>
      <p:sp>
        <p:nvSpPr>
          <p:cNvPr id="17" name="Text 14"/>
          <p:cNvSpPr/>
          <p:nvPr/>
        </p:nvSpPr>
        <p:spPr>
          <a:xfrm>
            <a:off x="7564874" y="517659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383838"/>
                </a:solidFill>
                <a:latin typeface="DM Sans" pitchFamily="34" charset="0"/>
                <a:ea typeface="DM Sans" pitchFamily="34" charset="-122"/>
                <a:cs typeface="DM Sans" pitchFamily="34" charset="-120"/>
              </a:rPr>
              <a:t>Climate Adaptation:</a:t>
            </a:r>
            <a:r>
              <a:rPr lang="en-US" sz="1550" dirty="0">
                <a:solidFill>
                  <a:srgbClr val="383838"/>
                </a:solidFill>
                <a:latin typeface="DM Sans" pitchFamily="34" charset="0"/>
                <a:ea typeface="DM Sans" pitchFamily="34" charset="-122"/>
                <a:cs typeface="DM Sans" pitchFamily="34" charset="-120"/>
              </a:rPr>
              <a:t> Building community resilience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2355294" y="487918"/>
            <a:ext cx="1123117" cy="273010"/>
          </a:xfrm>
          <a:prstGeom prst="roundRect">
            <a:avLst>
              <a:gd name="adj" fmla="val 6032"/>
            </a:avLst>
          </a:prstGeom>
          <a:noFill/>
          <a:ln w="7620">
            <a:solidFill>
              <a:srgbClr val="E04F00"/>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45187" y="569476"/>
            <a:ext cx="109776" cy="109776"/>
          </a:xfrm>
          <a:prstGeom prst="rect">
            <a:avLst/>
          </a:prstGeom>
        </p:spPr>
      </p:pic>
      <p:sp>
        <p:nvSpPr>
          <p:cNvPr id="4" name="Text 1"/>
          <p:cNvSpPr/>
          <p:nvPr/>
        </p:nvSpPr>
        <p:spPr>
          <a:xfrm>
            <a:off x="2609850" y="536615"/>
            <a:ext cx="778669" cy="175617"/>
          </a:xfrm>
          <a:prstGeom prst="rect">
            <a:avLst/>
          </a:prstGeom>
          <a:noFill/>
          <a:ln/>
        </p:spPr>
        <p:txBody>
          <a:bodyPr wrap="none" lIns="0" tIns="0" rIns="0" bIns="0" rtlCol="0" anchor="t"/>
          <a:lstStyle/>
          <a:p>
            <a:pPr marL="0" indent="0" algn="l">
              <a:lnSpc>
                <a:spcPts val="1350"/>
              </a:lnSpc>
              <a:buNone/>
            </a:pPr>
            <a:r>
              <a:rPr lang="en-US" sz="850" dirty="0">
                <a:solidFill>
                  <a:srgbClr val="E04F00"/>
                </a:solidFill>
                <a:latin typeface="DM Sans" pitchFamily="34" charset="0"/>
                <a:ea typeface="DM Sans" pitchFamily="34" charset="-122"/>
                <a:cs typeface="DM Sans" pitchFamily="34" charset="-120"/>
              </a:rPr>
              <a:t>DATA SOURCES</a:t>
            </a:r>
            <a:endParaRPr lang="en-US" sz="850" dirty="0"/>
          </a:p>
        </p:txBody>
      </p:sp>
      <p:sp>
        <p:nvSpPr>
          <p:cNvPr id="5" name="Text 2"/>
          <p:cNvSpPr/>
          <p:nvPr/>
        </p:nvSpPr>
        <p:spPr>
          <a:xfrm>
            <a:off x="2355294" y="815816"/>
            <a:ext cx="6582370" cy="450294"/>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Comprehensive Multi-Source Integration</a:t>
            </a:r>
            <a:endParaRPr lang="en-US" sz="2800" dirty="0"/>
          </a:p>
        </p:txBody>
      </p:sp>
      <p:sp>
        <p:nvSpPr>
          <p:cNvPr id="6" name="Text 3"/>
          <p:cNvSpPr/>
          <p:nvPr/>
        </p:nvSpPr>
        <p:spPr>
          <a:xfrm>
            <a:off x="2355294" y="1471851"/>
            <a:ext cx="9919692" cy="439102"/>
          </a:xfrm>
          <a:prstGeom prst="rect">
            <a:avLst/>
          </a:prstGeom>
          <a:noFill/>
          <a:ln/>
        </p:spPr>
        <p:txBody>
          <a:bodyPr wrap="squar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This analysis integrates </a:t>
            </a:r>
            <a:r>
              <a:rPr lang="en-US" sz="1050" b="1" dirty="0">
                <a:solidFill>
                  <a:srgbClr val="383838"/>
                </a:solidFill>
                <a:latin typeface="DM Sans" pitchFamily="34" charset="0"/>
                <a:ea typeface="DM Sans" pitchFamily="34" charset="-122"/>
                <a:cs typeface="DM Sans" pitchFamily="34" charset="-120"/>
              </a:rPr>
              <a:t>104 data files</a:t>
            </a:r>
            <a:r>
              <a:rPr lang="en-US" sz="1050" dirty="0">
                <a:solidFill>
                  <a:srgbClr val="383838"/>
                </a:solidFill>
                <a:latin typeface="DM Sans" pitchFamily="34" charset="0"/>
                <a:ea typeface="DM Sans" pitchFamily="34" charset="-122"/>
                <a:cs typeface="DM Sans" pitchFamily="34" charset="-120"/>
              </a:rPr>
              <a:t> from seven authoritative sources covering 2018-2023, providing comprehensive environmental, social, and health data across 58 California counties.</a:t>
            </a:r>
            <a:endParaRPr lang="en-US" sz="1050" dirty="0"/>
          </a:p>
        </p:txBody>
      </p:sp>
      <p:sp>
        <p:nvSpPr>
          <p:cNvPr id="7" name="Shape 4"/>
          <p:cNvSpPr/>
          <p:nvPr/>
        </p:nvSpPr>
        <p:spPr>
          <a:xfrm>
            <a:off x="2355294" y="2065258"/>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8" name="Shape 5"/>
          <p:cNvSpPr/>
          <p:nvPr/>
        </p:nvSpPr>
        <p:spPr>
          <a:xfrm>
            <a:off x="2370534" y="2080498"/>
            <a:ext cx="548878" cy="801291"/>
          </a:xfrm>
          <a:prstGeom prst="roundRect">
            <a:avLst>
              <a:gd name="adj" fmla="val 418"/>
            </a:avLst>
          </a:prstGeom>
          <a:solidFill>
            <a:srgbClr val="F2EEEE"/>
          </a:solidFill>
          <a:ln/>
        </p:spPr>
        <p:txBody>
          <a:bodyPr/>
          <a:lstStyle/>
          <a:p>
            <a:endParaRPr lang="en-US"/>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42103" y="2378154"/>
            <a:ext cx="205740" cy="205740"/>
          </a:xfrm>
          <a:prstGeom prst="rect">
            <a:avLst/>
          </a:prstGeom>
        </p:spPr>
      </p:pic>
      <p:sp>
        <p:nvSpPr>
          <p:cNvPr id="10" name="Text 6"/>
          <p:cNvSpPr/>
          <p:nvPr/>
        </p:nvSpPr>
        <p:spPr>
          <a:xfrm>
            <a:off x="3056572" y="2217658"/>
            <a:ext cx="2457331"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CDC Social Vulnerability Index</a:t>
            </a:r>
            <a:endParaRPr lang="en-US" sz="1400" dirty="0"/>
          </a:p>
        </p:txBody>
      </p:sp>
      <p:sp>
        <p:nvSpPr>
          <p:cNvPr id="11" name="Text 7"/>
          <p:cNvSpPr/>
          <p:nvPr/>
        </p:nvSpPr>
        <p:spPr>
          <a:xfrm>
            <a:off x="3056572" y="2525078"/>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Socioeconomic status, household composition, race/ethnicity, housing and transportation metrics measuring community vulnerability</a:t>
            </a:r>
            <a:endParaRPr lang="en-US" sz="1050" dirty="0"/>
          </a:p>
        </p:txBody>
      </p:sp>
      <p:sp>
        <p:nvSpPr>
          <p:cNvPr id="12" name="Shape 8"/>
          <p:cNvSpPr/>
          <p:nvPr/>
        </p:nvSpPr>
        <p:spPr>
          <a:xfrm>
            <a:off x="2355294" y="3034189"/>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13" name="Shape 9"/>
          <p:cNvSpPr/>
          <p:nvPr/>
        </p:nvSpPr>
        <p:spPr>
          <a:xfrm>
            <a:off x="2370534" y="3049429"/>
            <a:ext cx="548878" cy="801291"/>
          </a:xfrm>
          <a:prstGeom prst="roundRect">
            <a:avLst>
              <a:gd name="adj" fmla="val 418"/>
            </a:avLst>
          </a:prstGeom>
          <a:solidFill>
            <a:srgbClr val="F2EEEE"/>
          </a:solidFill>
          <a:ln/>
        </p:spPr>
        <p:txBody>
          <a:bodyPr/>
          <a:lstStyle/>
          <a:p>
            <a:endParaRPr lang="en-US"/>
          </a:p>
        </p:txBody>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542103" y="3347085"/>
            <a:ext cx="205740" cy="205740"/>
          </a:xfrm>
          <a:prstGeom prst="rect">
            <a:avLst/>
          </a:prstGeom>
        </p:spPr>
      </p:pic>
      <p:sp>
        <p:nvSpPr>
          <p:cNvPr id="15" name="Text 10"/>
          <p:cNvSpPr/>
          <p:nvPr/>
        </p:nvSpPr>
        <p:spPr>
          <a:xfrm>
            <a:off x="3056572" y="3186589"/>
            <a:ext cx="1801058"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CalEnviroScreen 4.0</a:t>
            </a:r>
            <a:endParaRPr lang="en-US" sz="1400" dirty="0"/>
          </a:p>
        </p:txBody>
      </p:sp>
      <p:sp>
        <p:nvSpPr>
          <p:cNvPr id="16" name="Text 11"/>
          <p:cNvSpPr/>
          <p:nvPr/>
        </p:nvSpPr>
        <p:spPr>
          <a:xfrm>
            <a:off x="3056572" y="3494008"/>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Pollution burden, population characteristics, and cumulative environmental impact scores for justice assessment</a:t>
            </a:r>
            <a:endParaRPr lang="en-US" sz="1050" dirty="0"/>
          </a:p>
        </p:txBody>
      </p:sp>
      <p:sp>
        <p:nvSpPr>
          <p:cNvPr id="17" name="Shape 12"/>
          <p:cNvSpPr/>
          <p:nvPr/>
        </p:nvSpPr>
        <p:spPr>
          <a:xfrm>
            <a:off x="2355294" y="4003119"/>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18" name="Shape 13"/>
          <p:cNvSpPr/>
          <p:nvPr/>
        </p:nvSpPr>
        <p:spPr>
          <a:xfrm>
            <a:off x="2370534" y="4018359"/>
            <a:ext cx="548878" cy="801291"/>
          </a:xfrm>
          <a:prstGeom prst="roundRect">
            <a:avLst>
              <a:gd name="adj" fmla="val 418"/>
            </a:avLst>
          </a:prstGeom>
          <a:solidFill>
            <a:srgbClr val="F2EEEE"/>
          </a:solidFill>
          <a:ln/>
        </p:spPr>
        <p:txBody>
          <a:bodyPr/>
          <a:lstStyle/>
          <a:p>
            <a:endParaRPr lang="en-US"/>
          </a:p>
        </p:txBody>
      </p:sp>
      <p:pic>
        <p:nvPicPr>
          <p:cNvPr id="19"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42103" y="4316016"/>
            <a:ext cx="205740" cy="205740"/>
          </a:xfrm>
          <a:prstGeom prst="rect">
            <a:avLst/>
          </a:prstGeom>
        </p:spPr>
      </p:pic>
      <p:sp>
        <p:nvSpPr>
          <p:cNvPr id="20" name="Text 14"/>
          <p:cNvSpPr/>
          <p:nvPr/>
        </p:nvSpPr>
        <p:spPr>
          <a:xfrm>
            <a:off x="3056572" y="4155519"/>
            <a:ext cx="2095500"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FEMA National Risk Index</a:t>
            </a:r>
            <a:endParaRPr lang="en-US" sz="1400" dirty="0"/>
          </a:p>
        </p:txBody>
      </p:sp>
      <p:sp>
        <p:nvSpPr>
          <p:cNvPr id="21" name="Text 15"/>
          <p:cNvSpPr/>
          <p:nvPr/>
        </p:nvSpPr>
        <p:spPr>
          <a:xfrm>
            <a:off x="3056572" y="4462939"/>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Heat wave risk, drought risk, wildfire risk, and overall climate hazard exposure metrics</a:t>
            </a:r>
            <a:endParaRPr lang="en-US" sz="1050" dirty="0"/>
          </a:p>
        </p:txBody>
      </p:sp>
      <p:sp>
        <p:nvSpPr>
          <p:cNvPr id="22" name="Shape 16"/>
          <p:cNvSpPr/>
          <p:nvPr/>
        </p:nvSpPr>
        <p:spPr>
          <a:xfrm>
            <a:off x="2355294" y="4972050"/>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23" name="Shape 17"/>
          <p:cNvSpPr/>
          <p:nvPr/>
        </p:nvSpPr>
        <p:spPr>
          <a:xfrm>
            <a:off x="2370534" y="4987290"/>
            <a:ext cx="548878" cy="801291"/>
          </a:xfrm>
          <a:prstGeom prst="roundRect">
            <a:avLst>
              <a:gd name="adj" fmla="val 418"/>
            </a:avLst>
          </a:prstGeom>
          <a:solidFill>
            <a:srgbClr val="F2EEEE"/>
          </a:solidFill>
          <a:ln/>
        </p:spPr>
        <p:txBody>
          <a:bodyPr/>
          <a:lstStyle/>
          <a:p>
            <a:endParaRPr lang="en-US"/>
          </a:p>
        </p:txBody>
      </p:sp>
      <p:pic>
        <p:nvPicPr>
          <p:cNvPr id="24"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542103" y="5284946"/>
            <a:ext cx="205740" cy="205740"/>
          </a:xfrm>
          <a:prstGeom prst="rect">
            <a:avLst/>
          </a:prstGeom>
        </p:spPr>
      </p:pic>
      <p:sp>
        <p:nvSpPr>
          <p:cNvPr id="25" name="Text 18"/>
          <p:cNvSpPr/>
          <p:nvPr/>
        </p:nvSpPr>
        <p:spPr>
          <a:xfrm>
            <a:off x="3056572" y="5124450"/>
            <a:ext cx="1801058"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DOE EAGLE-I</a:t>
            </a:r>
            <a:endParaRPr lang="en-US" sz="1400" dirty="0"/>
          </a:p>
        </p:txBody>
      </p:sp>
      <p:sp>
        <p:nvSpPr>
          <p:cNvPr id="26" name="Text 19"/>
          <p:cNvSpPr/>
          <p:nvPr/>
        </p:nvSpPr>
        <p:spPr>
          <a:xfrm>
            <a:off x="3056572" y="5431869"/>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Power outage frequency and duration data (post-2018) measuring infrastructure resilience</a:t>
            </a:r>
            <a:endParaRPr lang="en-US" sz="1050" dirty="0"/>
          </a:p>
        </p:txBody>
      </p:sp>
      <p:sp>
        <p:nvSpPr>
          <p:cNvPr id="27" name="Shape 20"/>
          <p:cNvSpPr/>
          <p:nvPr/>
        </p:nvSpPr>
        <p:spPr>
          <a:xfrm>
            <a:off x="2355294" y="5940981"/>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28" name="Shape 21"/>
          <p:cNvSpPr/>
          <p:nvPr/>
        </p:nvSpPr>
        <p:spPr>
          <a:xfrm>
            <a:off x="2370534" y="5956221"/>
            <a:ext cx="548878" cy="801291"/>
          </a:xfrm>
          <a:prstGeom prst="roundRect">
            <a:avLst>
              <a:gd name="adj" fmla="val 418"/>
            </a:avLst>
          </a:prstGeom>
          <a:solidFill>
            <a:srgbClr val="F2EEEE"/>
          </a:solidFill>
          <a:ln/>
        </p:spPr>
        <p:txBody>
          <a:bodyPr/>
          <a:lstStyle/>
          <a:p>
            <a:endParaRPr lang="en-US"/>
          </a:p>
        </p:txBody>
      </p:sp>
      <p:pic>
        <p:nvPicPr>
          <p:cNvPr id="29"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542103" y="6253877"/>
            <a:ext cx="205740" cy="205740"/>
          </a:xfrm>
          <a:prstGeom prst="rect">
            <a:avLst/>
          </a:prstGeom>
        </p:spPr>
      </p:pic>
      <p:sp>
        <p:nvSpPr>
          <p:cNvPr id="30" name="Text 22"/>
          <p:cNvSpPr/>
          <p:nvPr/>
        </p:nvSpPr>
        <p:spPr>
          <a:xfrm>
            <a:off x="3056572" y="6093381"/>
            <a:ext cx="2266355"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California Tracking Program</a:t>
            </a:r>
            <a:endParaRPr lang="en-US" sz="1400" dirty="0"/>
          </a:p>
        </p:txBody>
      </p:sp>
      <p:sp>
        <p:nvSpPr>
          <p:cNvPr id="31" name="Text 23"/>
          <p:cNvSpPr/>
          <p:nvPr/>
        </p:nvSpPr>
        <p:spPr>
          <a:xfrm>
            <a:off x="3056572" y="6400800"/>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Heat-related illness hospitalization and emergency department visit rates (target variable)</a:t>
            </a:r>
            <a:endParaRPr lang="en-US" sz="1050" dirty="0"/>
          </a:p>
        </p:txBody>
      </p:sp>
      <p:sp>
        <p:nvSpPr>
          <p:cNvPr id="32" name="Shape 24"/>
          <p:cNvSpPr/>
          <p:nvPr/>
        </p:nvSpPr>
        <p:spPr>
          <a:xfrm>
            <a:off x="2355294" y="6909911"/>
            <a:ext cx="9919692" cy="831771"/>
          </a:xfrm>
          <a:prstGeom prst="roundRect">
            <a:avLst>
              <a:gd name="adj" fmla="val 2475"/>
            </a:avLst>
          </a:prstGeom>
          <a:solidFill>
            <a:srgbClr val="FFFFFF"/>
          </a:solidFill>
          <a:ln w="15240">
            <a:solidFill>
              <a:srgbClr val="D8D4D4"/>
            </a:solidFill>
            <a:prstDash val="solid"/>
          </a:ln>
        </p:spPr>
        <p:txBody>
          <a:bodyPr/>
          <a:lstStyle/>
          <a:p>
            <a:endParaRPr lang="en-US"/>
          </a:p>
        </p:txBody>
      </p:sp>
      <p:sp>
        <p:nvSpPr>
          <p:cNvPr id="33" name="Shape 25"/>
          <p:cNvSpPr/>
          <p:nvPr/>
        </p:nvSpPr>
        <p:spPr>
          <a:xfrm>
            <a:off x="2370534" y="6925151"/>
            <a:ext cx="548878" cy="801291"/>
          </a:xfrm>
          <a:prstGeom prst="roundRect">
            <a:avLst>
              <a:gd name="adj" fmla="val 418"/>
            </a:avLst>
          </a:prstGeom>
          <a:solidFill>
            <a:srgbClr val="F2EEEE"/>
          </a:solidFill>
          <a:ln/>
        </p:spPr>
        <p:txBody>
          <a:bodyPr/>
          <a:lstStyle/>
          <a:p>
            <a:endParaRPr lang="en-US"/>
          </a:p>
        </p:txBody>
      </p:sp>
      <p:pic>
        <p:nvPicPr>
          <p:cNvPr id="34"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542103" y="7222808"/>
            <a:ext cx="205740" cy="205740"/>
          </a:xfrm>
          <a:prstGeom prst="rect">
            <a:avLst/>
          </a:prstGeom>
        </p:spPr>
      </p:pic>
      <p:sp>
        <p:nvSpPr>
          <p:cNvPr id="35" name="Text 26"/>
          <p:cNvSpPr/>
          <p:nvPr/>
        </p:nvSpPr>
        <p:spPr>
          <a:xfrm>
            <a:off x="3056572" y="7062311"/>
            <a:ext cx="1801058" cy="225147"/>
          </a:xfrm>
          <a:prstGeom prst="rect">
            <a:avLst/>
          </a:prstGeom>
          <a:noFill/>
          <a:ln/>
        </p:spPr>
        <p:txBody>
          <a:bodyPr wrap="none" lIns="0" tIns="0" rIns="0" bIns="0" rtlCol="0" anchor="t"/>
          <a:lstStyle/>
          <a:p>
            <a:pPr marL="0" indent="0" algn="l">
              <a:lnSpc>
                <a:spcPts val="1750"/>
              </a:lnSpc>
              <a:buNone/>
            </a:pPr>
            <a:r>
              <a:rPr lang="en-US" sz="1400" dirty="0">
                <a:solidFill>
                  <a:srgbClr val="383838"/>
                </a:solidFill>
                <a:latin typeface="PT Serif" pitchFamily="34" charset="0"/>
                <a:ea typeface="PT Serif" pitchFamily="34" charset="-122"/>
                <a:cs typeface="PT Serif" pitchFamily="34" charset="-120"/>
              </a:rPr>
              <a:t>CAL FIRE &amp; NOAA</a:t>
            </a:r>
            <a:endParaRPr lang="en-US" sz="1400" dirty="0"/>
          </a:p>
        </p:txBody>
      </p:sp>
      <p:sp>
        <p:nvSpPr>
          <p:cNvPr id="36" name="Text 27"/>
          <p:cNvSpPr/>
          <p:nvPr/>
        </p:nvSpPr>
        <p:spPr>
          <a:xfrm>
            <a:off x="3056572" y="7369731"/>
            <a:ext cx="9066014" cy="219551"/>
          </a:xfrm>
          <a:prstGeom prst="rect">
            <a:avLst/>
          </a:prstGeom>
          <a:noFill/>
          <a:ln/>
        </p:spPr>
        <p:txBody>
          <a:bodyPr wrap="none" lIns="0" tIns="0" rIns="0" bIns="0" rtlCol="0" anchor="t"/>
          <a:lstStyle/>
          <a:p>
            <a:pPr marL="0" indent="0" algn="l">
              <a:lnSpc>
                <a:spcPts val="1700"/>
              </a:lnSpc>
              <a:buNone/>
            </a:pPr>
            <a:r>
              <a:rPr lang="en-US" sz="1050" dirty="0">
                <a:solidFill>
                  <a:srgbClr val="383838"/>
                </a:solidFill>
                <a:latin typeface="DM Sans" pitchFamily="34" charset="0"/>
                <a:ea typeface="DM Sans" pitchFamily="34" charset="-122"/>
                <a:cs typeface="DM Sans" pitchFamily="34" charset="-120"/>
              </a:rPr>
              <a:t>Wildfire incident data and extreme weather events for climate exposure validation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507569" y="442913"/>
            <a:ext cx="1338262" cy="301943"/>
          </a:xfrm>
          <a:prstGeom prst="roundRect">
            <a:avLst>
              <a:gd name="adj" fmla="val 6386"/>
            </a:avLst>
          </a:prstGeom>
          <a:solidFill>
            <a:srgbClr val="FFDECC"/>
          </a:solidFill>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03891" y="529590"/>
            <a:ext cx="128468" cy="128468"/>
          </a:xfrm>
          <a:prstGeom prst="rect">
            <a:avLst/>
          </a:prstGeom>
        </p:spPr>
      </p:pic>
      <p:sp>
        <p:nvSpPr>
          <p:cNvPr id="4" name="Text 1"/>
          <p:cNvSpPr/>
          <p:nvPr/>
        </p:nvSpPr>
        <p:spPr>
          <a:xfrm>
            <a:off x="1796534" y="491014"/>
            <a:ext cx="952976" cy="205740"/>
          </a:xfrm>
          <a:prstGeom prst="rect">
            <a:avLst/>
          </a:prstGeom>
          <a:noFill/>
          <a:ln/>
        </p:spPr>
        <p:txBody>
          <a:bodyPr wrap="none" lIns="0" tIns="0" rIns="0" bIns="0" rtlCol="0" anchor="t"/>
          <a:lstStyle/>
          <a:p>
            <a:pPr marL="0" indent="0" algn="l">
              <a:lnSpc>
                <a:spcPts val="1600"/>
              </a:lnSpc>
              <a:buNone/>
            </a:pPr>
            <a:r>
              <a:rPr lang="en-US" sz="1000" dirty="0">
                <a:solidFill>
                  <a:srgbClr val="383838"/>
                </a:solidFill>
                <a:latin typeface="DM Sans" pitchFamily="34" charset="0"/>
                <a:ea typeface="DM Sans" pitchFamily="34" charset="-122"/>
                <a:cs typeface="DM Sans" pitchFamily="34" charset="-120"/>
              </a:rPr>
              <a:t>METHODOLOGY</a:t>
            </a:r>
            <a:endParaRPr lang="en-US" sz="1000" dirty="0"/>
          </a:p>
        </p:txBody>
      </p:sp>
      <p:sp>
        <p:nvSpPr>
          <p:cNvPr id="5" name="Text 2"/>
          <p:cNvSpPr/>
          <p:nvPr/>
        </p:nvSpPr>
        <p:spPr>
          <a:xfrm>
            <a:off x="1507569" y="809030"/>
            <a:ext cx="5784771" cy="527209"/>
          </a:xfrm>
          <a:prstGeom prst="rect">
            <a:avLst/>
          </a:prstGeom>
          <a:noFill/>
          <a:ln/>
        </p:spPr>
        <p:txBody>
          <a:bodyPr wrap="none" lIns="0" tIns="0" rIns="0" bIns="0" rtlCol="0" anchor="t"/>
          <a:lstStyle/>
          <a:p>
            <a:pPr marL="0" indent="0" algn="l">
              <a:lnSpc>
                <a:spcPts val="4150"/>
              </a:lnSpc>
              <a:buNone/>
            </a:pPr>
            <a:r>
              <a:rPr lang="en-US" sz="3300" dirty="0">
                <a:solidFill>
                  <a:srgbClr val="020202"/>
                </a:solidFill>
                <a:latin typeface="PT Serif" pitchFamily="34" charset="0"/>
                <a:ea typeface="PT Serif" pitchFamily="34" charset="-122"/>
                <a:cs typeface="PT Serif" pitchFamily="34" charset="-120"/>
              </a:rPr>
              <a:t>PCA Dimensionality Reduction</a:t>
            </a:r>
            <a:endParaRPr lang="en-US" sz="3300" dirty="0"/>
          </a:p>
        </p:txBody>
      </p:sp>
      <p:sp>
        <p:nvSpPr>
          <p:cNvPr id="6" name="Text 3"/>
          <p:cNvSpPr/>
          <p:nvPr/>
        </p:nvSpPr>
        <p:spPr>
          <a:xfrm>
            <a:off x="1507569" y="1737836"/>
            <a:ext cx="2108954" cy="263485"/>
          </a:xfrm>
          <a:prstGeom prst="rect">
            <a:avLst/>
          </a:prstGeom>
          <a:noFill/>
          <a:ln/>
        </p:spPr>
        <p:txBody>
          <a:bodyPr wrap="none" lIns="0" tIns="0" rIns="0" bIns="0" rtlCol="0" anchor="t"/>
          <a:lstStyle/>
          <a:p>
            <a:pPr marL="0" indent="0" algn="l">
              <a:lnSpc>
                <a:spcPts val="2050"/>
              </a:lnSpc>
              <a:buNone/>
            </a:pPr>
            <a:r>
              <a:rPr lang="en-US" sz="1650" dirty="0">
                <a:solidFill>
                  <a:srgbClr val="020202"/>
                </a:solidFill>
                <a:latin typeface="PT Serif" pitchFamily="34" charset="0"/>
                <a:ea typeface="PT Serif" pitchFamily="34" charset="-122"/>
                <a:cs typeface="PT Serif" pitchFamily="34" charset="-120"/>
              </a:rPr>
              <a:t>Why PCA?</a:t>
            </a:r>
            <a:endParaRPr lang="en-US" sz="1650" dirty="0"/>
          </a:p>
        </p:txBody>
      </p:sp>
      <p:sp>
        <p:nvSpPr>
          <p:cNvPr id="7" name="Text 4"/>
          <p:cNvSpPr/>
          <p:nvPr/>
        </p:nvSpPr>
        <p:spPr>
          <a:xfrm>
            <a:off x="1507569" y="2161937"/>
            <a:ext cx="4410789" cy="514350"/>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Multicollinearity Reduction:</a:t>
            </a:r>
            <a:r>
              <a:rPr lang="en-US" sz="1250" dirty="0">
                <a:solidFill>
                  <a:srgbClr val="383838"/>
                </a:solidFill>
                <a:latin typeface="DM Sans" pitchFamily="34" charset="0"/>
                <a:ea typeface="DM Sans" pitchFamily="34" charset="-122"/>
                <a:cs typeface="DM Sans" pitchFamily="34" charset="-120"/>
              </a:rPr>
              <a:t> Environmental justice variables are inherently correlated</a:t>
            </a:r>
            <a:endParaRPr lang="en-US" sz="1250" dirty="0"/>
          </a:p>
        </p:txBody>
      </p:sp>
      <p:sp>
        <p:nvSpPr>
          <p:cNvPr id="8" name="Text 5"/>
          <p:cNvSpPr/>
          <p:nvPr/>
        </p:nvSpPr>
        <p:spPr>
          <a:xfrm>
            <a:off x="1507569" y="2732484"/>
            <a:ext cx="4410789" cy="514350"/>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Computational Efficiency:</a:t>
            </a:r>
            <a:r>
              <a:rPr lang="en-US" sz="1250" dirty="0">
                <a:solidFill>
                  <a:srgbClr val="383838"/>
                </a:solidFill>
                <a:latin typeface="DM Sans" pitchFamily="34" charset="0"/>
                <a:ea typeface="DM Sans" pitchFamily="34" charset="-122"/>
                <a:cs typeface="DM Sans" pitchFamily="34" charset="-120"/>
              </a:rPr>
              <a:t> 58% reduction in training time</a:t>
            </a:r>
            <a:endParaRPr lang="en-US" sz="1250" dirty="0"/>
          </a:p>
        </p:txBody>
      </p:sp>
      <p:sp>
        <p:nvSpPr>
          <p:cNvPr id="9" name="Text 6"/>
          <p:cNvSpPr/>
          <p:nvPr/>
        </p:nvSpPr>
        <p:spPr>
          <a:xfrm>
            <a:off x="1507569" y="3303032"/>
            <a:ext cx="4410789" cy="514350"/>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Noise Reduction:</a:t>
            </a:r>
            <a:r>
              <a:rPr lang="en-US" sz="1250" dirty="0">
                <a:solidFill>
                  <a:srgbClr val="383838"/>
                </a:solidFill>
                <a:latin typeface="DM Sans" pitchFamily="34" charset="0"/>
                <a:ea typeface="DM Sans" pitchFamily="34" charset="-122"/>
                <a:cs typeface="DM Sans" pitchFamily="34" charset="-120"/>
              </a:rPr>
              <a:t> Filters measurement noise while retaining signal</a:t>
            </a:r>
            <a:endParaRPr lang="en-US" sz="1250" dirty="0"/>
          </a:p>
        </p:txBody>
      </p:sp>
      <p:sp>
        <p:nvSpPr>
          <p:cNvPr id="10" name="Text 7"/>
          <p:cNvSpPr/>
          <p:nvPr/>
        </p:nvSpPr>
        <p:spPr>
          <a:xfrm>
            <a:off x="1507569" y="3873579"/>
            <a:ext cx="4410789" cy="514350"/>
          </a:xfrm>
          <a:prstGeom prst="rect">
            <a:avLst/>
          </a:prstGeom>
          <a:noFill/>
          <a:ln/>
        </p:spPr>
        <p:txBody>
          <a:bodyPr wrap="square" lIns="0" tIns="0" rIns="0" bIns="0" rtlCol="0" anchor="t"/>
          <a:lstStyle/>
          <a:p>
            <a:pPr marL="342900" indent="-342900" algn="l">
              <a:lnSpc>
                <a:spcPts val="2000"/>
              </a:lnSpc>
              <a:buSzPct val="100000"/>
              <a:buChar char="•"/>
            </a:pPr>
            <a:r>
              <a:rPr lang="en-US" sz="1250" b="1" dirty="0">
                <a:solidFill>
                  <a:srgbClr val="383838"/>
                </a:solidFill>
                <a:latin typeface="DM Sans" pitchFamily="34" charset="0"/>
                <a:ea typeface="DM Sans" pitchFamily="34" charset="-122"/>
                <a:cs typeface="DM Sans" pitchFamily="34" charset="-120"/>
              </a:rPr>
              <a:t>Interpretability:</a:t>
            </a:r>
            <a:r>
              <a:rPr lang="en-US" sz="1250" dirty="0">
                <a:solidFill>
                  <a:srgbClr val="383838"/>
                </a:solidFill>
                <a:latin typeface="DM Sans" pitchFamily="34" charset="0"/>
                <a:ea typeface="DM Sans" pitchFamily="34" charset="-122"/>
                <a:cs typeface="DM Sans" pitchFamily="34" charset="-120"/>
              </a:rPr>
              <a:t> Linear transformation allows feature inspection</a:t>
            </a:r>
            <a:endParaRPr lang="en-US" sz="1250" dirty="0"/>
          </a:p>
        </p:txBody>
      </p:sp>
      <p:sp>
        <p:nvSpPr>
          <p:cNvPr id="11" name="Text 8"/>
          <p:cNvSpPr/>
          <p:nvPr/>
        </p:nvSpPr>
        <p:spPr>
          <a:xfrm>
            <a:off x="1507569" y="4548545"/>
            <a:ext cx="2108954" cy="263485"/>
          </a:xfrm>
          <a:prstGeom prst="rect">
            <a:avLst/>
          </a:prstGeom>
          <a:noFill/>
          <a:ln/>
        </p:spPr>
        <p:txBody>
          <a:bodyPr wrap="none" lIns="0" tIns="0" rIns="0" bIns="0" rtlCol="0" anchor="t"/>
          <a:lstStyle/>
          <a:p>
            <a:pPr marL="0" indent="0" algn="l">
              <a:lnSpc>
                <a:spcPts val="2050"/>
              </a:lnSpc>
              <a:buNone/>
            </a:pPr>
            <a:r>
              <a:rPr lang="en-US" sz="1650" dirty="0">
                <a:solidFill>
                  <a:srgbClr val="020202"/>
                </a:solidFill>
                <a:latin typeface="PT Serif" pitchFamily="34" charset="0"/>
                <a:ea typeface="PT Serif" pitchFamily="34" charset="-122"/>
                <a:cs typeface="PT Serif" pitchFamily="34" charset="-120"/>
              </a:rPr>
              <a:t>Configuration</a:t>
            </a:r>
            <a:endParaRPr lang="en-US" sz="1650" dirty="0"/>
          </a:p>
        </p:txBody>
      </p:sp>
      <p:sp>
        <p:nvSpPr>
          <p:cNvPr id="12" name="Text 9"/>
          <p:cNvSpPr/>
          <p:nvPr/>
        </p:nvSpPr>
        <p:spPr>
          <a:xfrm>
            <a:off x="1507569" y="4972645"/>
            <a:ext cx="4410789" cy="257175"/>
          </a:xfrm>
          <a:prstGeom prst="rect">
            <a:avLst/>
          </a:prstGeom>
          <a:noFill/>
          <a:ln/>
        </p:spPr>
        <p:txBody>
          <a:bodyPr wrap="non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Input:</a:t>
            </a:r>
            <a:r>
              <a:rPr lang="en-US" sz="1250" dirty="0">
                <a:solidFill>
                  <a:srgbClr val="383838"/>
                </a:solidFill>
                <a:latin typeface="DM Sans" pitchFamily="34" charset="0"/>
                <a:ea typeface="DM Sans" pitchFamily="34" charset="-122"/>
                <a:cs typeface="DM Sans" pitchFamily="34" charset="-120"/>
              </a:rPr>
              <a:t> 12 normalized features × 58 counties</a:t>
            </a:r>
            <a:endParaRPr lang="en-US" sz="1250" dirty="0"/>
          </a:p>
        </p:txBody>
      </p:sp>
      <p:sp>
        <p:nvSpPr>
          <p:cNvPr id="13" name="Text 10"/>
          <p:cNvSpPr/>
          <p:nvPr/>
        </p:nvSpPr>
        <p:spPr>
          <a:xfrm>
            <a:off x="1507569" y="5374362"/>
            <a:ext cx="4410789" cy="257175"/>
          </a:xfrm>
          <a:prstGeom prst="rect">
            <a:avLst/>
          </a:prstGeom>
          <a:noFill/>
          <a:ln/>
        </p:spPr>
        <p:txBody>
          <a:bodyPr wrap="non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Components Retained:</a:t>
            </a:r>
            <a:r>
              <a:rPr lang="en-US" sz="1250" dirty="0">
                <a:solidFill>
                  <a:srgbClr val="383838"/>
                </a:solidFill>
                <a:latin typeface="DM Sans" pitchFamily="34" charset="0"/>
                <a:ea typeface="DM Sans" pitchFamily="34" charset="-122"/>
                <a:cs typeface="DM Sans" pitchFamily="34" charset="-120"/>
              </a:rPr>
              <a:t> 5 principal components</a:t>
            </a:r>
            <a:endParaRPr lang="en-US" sz="1250" dirty="0"/>
          </a:p>
        </p:txBody>
      </p:sp>
      <p:sp>
        <p:nvSpPr>
          <p:cNvPr id="14" name="Text 11"/>
          <p:cNvSpPr/>
          <p:nvPr/>
        </p:nvSpPr>
        <p:spPr>
          <a:xfrm>
            <a:off x="1507569" y="5776079"/>
            <a:ext cx="4410789" cy="257175"/>
          </a:xfrm>
          <a:prstGeom prst="rect">
            <a:avLst/>
          </a:prstGeom>
          <a:noFill/>
          <a:ln/>
        </p:spPr>
        <p:txBody>
          <a:bodyPr wrap="non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Variance Explained:</a:t>
            </a:r>
            <a:r>
              <a:rPr lang="en-US" sz="1250" dirty="0">
                <a:solidFill>
                  <a:srgbClr val="383838"/>
                </a:solidFill>
                <a:latin typeface="DM Sans" pitchFamily="34" charset="0"/>
                <a:ea typeface="DM Sans" pitchFamily="34" charset="-122"/>
                <a:cs typeface="DM Sans" pitchFamily="34" charset="-120"/>
              </a:rPr>
              <a:t> 98.50%</a:t>
            </a:r>
            <a:endParaRPr lang="en-US" sz="1250" dirty="0"/>
          </a:p>
        </p:txBody>
      </p:sp>
      <p:pic>
        <p:nvPicPr>
          <p:cNvPr id="15" name="Image 1" descr="preencoded.png"/>
          <p:cNvPicPr>
            <a:picLocks noChangeAspect="1"/>
          </p:cNvPicPr>
          <p:nvPr/>
        </p:nvPicPr>
        <p:blipFill>
          <a:blip r:embed="rId5"/>
          <a:stretch>
            <a:fillRect/>
          </a:stretch>
        </p:blipFill>
        <p:spPr>
          <a:xfrm>
            <a:off x="6317933" y="1757958"/>
            <a:ext cx="2892266" cy="1606748"/>
          </a:xfrm>
          <a:prstGeom prst="rect">
            <a:avLst/>
          </a:prstGeom>
        </p:spPr>
      </p:pic>
      <p:sp>
        <p:nvSpPr>
          <p:cNvPr id="16" name="Text 12"/>
          <p:cNvSpPr/>
          <p:nvPr/>
        </p:nvSpPr>
        <p:spPr>
          <a:xfrm>
            <a:off x="1507569" y="6438781"/>
            <a:ext cx="3737848" cy="530185"/>
          </a:xfrm>
          <a:prstGeom prst="rect">
            <a:avLst/>
          </a:prstGeom>
          <a:noFill/>
          <a:ln/>
        </p:spPr>
        <p:txBody>
          <a:bodyPr wrap="none" lIns="0" tIns="0" rIns="0" bIns="0" rtlCol="0" anchor="t"/>
          <a:lstStyle/>
          <a:p>
            <a:pPr marL="0" indent="0" algn="ctr">
              <a:lnSpc>
                <a:spcPts val="4150"/>
              </a:lnSpc>
              <a:buNone/>
            </a:pPr>
            <a:r>
              <a:rPr lang="en-US" sz="4150" dirty="0">
                <a:solidFill>
                  <a:srgbClr val="383838"/>
                </a:solidFill>
                <a:latin typeface="PT Serif" pitchFamily="34" charset="0"/>
                <a:ea typeface="PT Serif" pitchFamily="34" charset="-122"/>
                <a:cs typeface="PT Serif" pitchFamily="34" charset="-120"/>
              </a:rPr>
              <a:t>72.43%</a:t>
            </a:r>
            <a:endParaRPr lang="en-US" sz="4150" dirty="0"/>
          </a:p>
        </p:txBody>
      </p:sp>
      <p:sp>
        <p:nvSpPr>
          <p:cNvPr id="17" name="Text 13"/>
          <p:cNvSpPr/>
          <p:nvPr/>
        </p:nvSpPr>
        <p:spPr>
          <a:xfrm>
            <a:off x="2321957" y="7169706"/>
            <a:ext cx="2108954" cy="263485"/>
          </a:xfrm>
          <a:prstGeom prst="rect">
            <a:avLst/>
          </a:prstGeom>
          <a:noFill/>
          <a:ln/>
        </p:spPr>
        <p:txBody>
          <a:bodyPr wrap="none" lIns="0" tIns="0" rIns="0" bIns="0" rtlCol="0" anchor="t"/>
          <a:lstStyle/>
          <a:p>
            <a:pPr marL="0" indent="0" algn="ctr">
              <a:lnSpc>
                <a:spcPts val="2050"/>
              </a:lnSpc>
              <a:buNone/>
            </a:pPr>
            <a:r>
              <a:rPr lang="en-US" sz="1650" dirty="0">
                <a:solidFill>
                  <a:srgbClr val="383838"/>
                </a:solidFill>
                <a:latin typeface="PT Serif" pitchFamily="34" charset="0"/>
                <a:ea typeface="PT Serif" pitchFamily="34" charset="-122"/>
                <a:cs typeface="PT Serif" pitchFamily="34" charset="-120"/>
              </a:rPr>
              <a:t>PC1 Variance</a:t>
            </a:r>
            <a:endParaRPr lang="en-US" sz="1650" dirty="0"/>
          </a:p>
        </p:txBody>
      </p:sp>
      <p:sp>
        <p:nvSpPr>
          <p:cNvPr id="18" name="Text 14"/>
          <p:cNvSpPr/>
          <p:nvPr/>
        </p:nvSpPr>
        <p:spPr>
          <a:xfrm>
            <a:off x="1507569" y="7529513"/>
            <a:ext cx="3737848" cy="257175"/>
          </a:xfrm>
          <a:prstGeom prst="rect">
            <a:avLst/>
          </a:prstGeom>
          <a:noFill/>
          <a:ln/>
        </p:spPr>
        <p:txBody>
          <a:bodyPr wrap="none" lIns="0" tIns="0" rIns="0" bIns="0" rtlCol="0" anchor="t"/>
          <a:lstStyle/>
          <a:p>
            <a:pPr marL="0" indent="0" algn="ctr">
              <a:lnSpc>
                <a:spcPts val="2000"/>
              </a:lnSpc>
              <a:buNone/>
            </a:pPr>
            <a:r>
              <a:rPr lang="en-US" sz="1250" dirty="0">
                <a:solidFill>
                  <a:srgbClr val="383838"/>
                </a:solidFill>
                <a:latin typeface="DM Sans" pitchFamily="34" charset="0"/>
                <a:ea typeface="DM Sans" pitchFamily="34" charset="-122"/>
                <a:cs typeface="DM Sans" pitchFamily="34" charset="-120"/>
              </a:rPr>
              <a:t>Overall cumulative vulnerability</a:t>
            </a:r>
            <a:endParaRPr lang="en-US" sz="1250" dirty="0"/>
          </a:p>
        </p:txBody>
      </p:sp>
      <p:sp>
        <p:nvSpPr>
          <p:cNvPr id="19" name="Text 15"/>
          <p:cNvSpPr/>
          <p:nvPr/>
        </p:nvSpPr>
        <p:spPr>
          <a:xfrm>
            <a:off x="5446157" y="6438781"/>
            <a:ext cx="3737848" cy="530185"/>
          </a:xfrm>
          <a:prstGeom prst="rect">
            <a:avLst/>
          </a:prstGeom>
          <a:noFill/>
          <a:ln/>
        </p:spPr>
        <p:txBody>
          <a:bodyPr wrap="none" lIns="0" tIns="0" rIns="0" bIns="0" rtlCol="0" anchor="t"/>
          <a:lstStyle/>
          <a:p>
            <a:pPr marL="0" indent="0" algn="ctr">
              <a:lnSpc>
                <a:spcPts val="4150"/>
              </a:lnSpc>
              <a:buNone/>
            </a:pPr>
            <a:r>
              <a:rPr lang="en-US" sz="4150" dirty="0">
                <a:solidFill>
                  <a:srgbClr val="383838"/>
                </a:solidFill>
                <a:latin typeface="PT Serif" pitchFamily="34" charset="0"/>
                <a:ea typeface="PT Serif" pitchFamily="34" charset="-122"/>
                <a:cs typeface="PT Serif" pitchFamily="34" charset="-120"/>
              </a:rPr>
              <a:t>14.57%</a:t>
            </a:r>
            <a:endParaRPr lang="en-US" sz="4150" dirty="0"/>
          </a:p>
        </p:txBody>
      </p:sp>
      <p:sp>
        <p:nvSpPr>
          <p:cNvPr id="20" name="Text 16"/>
          <p:cNvSpPr/>
          <p:nvPr/>
        </p:nvSpPr>
        <p:spPr>
          <a:xfrm>
            <a:off x="6260544" y="7169706"/>
            <a:ext cx="2108954" cy="263485"/>
          </a:xfrm>
          <a:prstGeom prst="rect">
            <a:avLst/>
          </a:prstGeom>
          <a:noFill/>
          <a:ln/>
        </p:spPr>
        <p:txBody>
          <a:bodyPr wrap="none" lIns="0" tIns="0" rIns="0" bIns="0" rtlCol="0" anchor="t"/>
          <a:lstStyle/>
          <a:p>
            <a:pPr marL="0" indent="0" algn="ctr">
              <a:lnSpc>
                <a:spcPts val="2050"/>
              </a:lnSpc>
              <a:buNone/>
            </a:pPr>
            <a:r>
              <a:rPr lang="en-US" sz="1650" dirty="0">
                <a:solidFill>
                  <a:srgbClr val="383838"/>
                </a:solidFill>
                <a:latin typeface="PT Serif" pitchFamily="34" charset="0"/>
                <a:ea typeface="PT Serif" pitchFamily="34" charset="-122"/>
                <a:cs typeface="PT Serif" pitchFamily="34" charset="-120"/>
              </a:rPr>
              <a:t>PC2 Variance</a:t>
            </a:r>
            <a:endParaRPr lang="en-US" sz="1650" dirty="0"/>
          </a:p>
        </p:txBody>
      </p:sp>
      <p:sp>
        <p:nvSpPr>
          <p:cNvPr id="21" name="Text 17"/>
          <p:cNvSpPr/>
          <p:nvPr/>
        </p:nvSpPr>
        <p:spPr>
          <a:xfrm>
            <a:off x="5446157" y="7529513"/>
            <a:ext cx="3737848" cy="257175"/>
          </a:xfrm>
          <a:prstGeom prst="rect">
            <a:avLst/>
          </a:prstGeom>
          <a:noFill/>
          <a:ln/>
        </p:spPr>
        <p:txBody>
          <a:bodyPr wrap="none" lIns="0" tIns="0" rIns="0" bIns="0" rtlCol="0" anchor="t"/>
          <a:lstStyle/>
          <a:p>
            <a:pPr marL="0" indent="0" algn="ctr">
              <a:lnSpc>
                <a:spcPts val="2000"/>
              </a:lnSpc>
              <a:buNone/>
            </a:pPr>
            <a:r>
              <a:rPr lang="en-US" sz="1250" dirty="0">
                <a:solidFill>
                  <a:srgbClr val="383838"/>
                </a:solidFill>
                <a:latin typeface="DM Sans" pitchFamily="34" charset="0"/>
                <a:ea typeface="DM Sans" pitchFamily="34" charset="-122"/>
                <a:cs typeface="DM Sans" pitchFamily="34" charset="-120"/>
              </a:rPr>
              <a:t>Climate vs. social risk</a:t>
            </a:r>
            <a:endParaRPr lang="en-US" sz="1250" dirty="0"/>
          </a:p>
        </p:txBody>
      </p:sp>
      <p:sp>
        <p:nvSpPr>
          <p:cNvPr id="22" name="Text 18"/>
          <p:cNvSpPr/>
          <p:nvPr/>
        </p:nvSpPr>
        <p:spPr>
          <a:xfrm>
            <a:off x="9384744" y="6438781"/>
            <a:ext cx="3737967" cy="530185"/>
          </a:xfrm>
          <a:prstGeom prst="rect">
            <a:avLst/>
          </a:prstGeom>
          <a:noFill/>
          <a:ln/>
        </p:spPr>
        <p:txBody>
          <a:bodyPr wrap="none" lIns="0" tIns="0" rIns="0" bIns="0" rtlCol="0" anchor="t"/>
          <a:lstStyle/>
          <a:p>
            <a:pPr marL="0" indent="0" algn="ctr">
              <a:lnSpc>
                <a:spcPts val="4150"/>
              </a:lnSpc>
              <a:buNone/>
            </a:pPr>
            <a:r>
              <a:rPr lang="en-US" sz="4150" dirty="0">
                <a:solidFill>
                  <a:srgbClr val="383838"/>
                </a:solidFill>
                <a:latin typeface="PT Serif" pitchFamily="34" charset="0"/>
                <a:ea typeface="PT Serif" pitchFamily="34" charset="-122"/>
                <a:cs typeface="PT Serif" pitchFamily="34" charset="-120"/>
              </a:rPr>
              <a:t>9.16%</a:t>
            </a:r>
            <a:endParaRPr lang="en-US" sz="4150" dirty="0"/>
          </a:p>
        </p:txBody>
      </p:sp>
      <p:sp>
        <p:nvSpPr>
          <p:cNvPr id="23" name="Text 19"/>
          <p:cNvSpPr/>
          <p:nvPr/>
        </p:nvSpPr>
        <p:spPr>
          <a:xfrm>
            <a:off x="10199251" y="7169706"/>
            <a:ext cx="2108954" cy="263485"/>
          </a:xfrm>
          <a:prstGeom prst="rect">
            <a:avLst/>
          </a:prstGeom>
          <a:noFill/>
          <a:ln/>
        </p:spPr>
        <p:txBody>
          <a:bodyPr wrap="none" lIns="0" tIns="0" rIns="0" bIns="0" rtlCol="0" anchor="t"/>
          <a:lstStyle/>
          <a:p>
            <a:pPr marL="0" indent="0" algn="ctr">
              <a:lnSpc>
                <a:spcPts val="2050"/>
              </a:lnSpc>
              <a:buNone/>
            </a:pPr>
            <a:r>
              <a:rPr lang="en-US" sz="1650" dirty="0">
                <a:solidFill>
                  <a:srgbClr val="383838"/>
                </a:solidFill>
                <a:latin typeface="PT Serif" pitchFamily="34" charset="0"/>
                <a:ea typeface="PT Serif" pitchFamily="34" charset="-122"/>
                <a:cs typeface="PT Serif" pitchFamily="34" charset="-120"/>
              </a:rPr>
              <a:t>PC3 Variance</a:t>
            </a:r>
            <a:endParaRPr lang="en-US" sz="1650" dirty="0"/>
          </a:p>
        </p:txBody>
      </p:sp>
      <p:sp>
        <p:nvSpPr>
          <p:cNvPr id="24" name="Text 20"/>
          <p:cNvSpPr/>
          <p:nvPr/>
        </p:nvSpPr>
        <p:spPr>
          <a:xfrm>
            <a:off x="9384744" y="7529513"/>
            <a:ext cx="3737967" cy="257175"/>
          </a:xfrm>
          <a:prstGeom prst="rect">
            <a:avLst/>
          </a:prstGeom>
          <a:noFill/>
          <a:ln/>
        </p:spPr>
        <p:txBody>
          <a:bodyPr wrap="none" lIns="0" tIns="0" rIns="0" bIns="0" rtlCol="0" anchor="t"/>
          <a:lstStyle/>
          <a:p>
            <a:pPr marL="0" indent="0" algn="ctr">
              <a:lnSpc>
                <a:spcPts val="2000"/>
              </a:lnSpc>
              <a:buNone/>
            </a:pPr>
            <a:r>
              <a:rPr lang="en-US" sz="1250" dirty="0">
                <a:solidFill>
                  <a:srgbClr val="383838"/>
                </a:solidFill>
                <a:latin typeface="DM Sans" pitchFamily="34" charset="0"/>
                <a:ea typeface="DM Sans" pitchFamily="34" charset="-122"/>
                <a:cs typeface="DM Sans" pitchFamily="34" charset="-120"/>
              </a:rPr>
              <a:t>Infrastructure resilience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486400" cy="8229600"/>
          </a:xfrm>
          <a:prstGeom prst="rect">
            <a:avLst/>
          </a:prstGeom>
          <a:solidFill>
            <a:srgbClr val="DFDFE0"/>
          </a:solidFill>
          <a:ln/>
        </p:spPr>
        <p:txBody>
          <a:bodyPr/>
          <a:lstStyle/>
          <a:p>
            <a:endParaRPr lang="en-US"/>
          </a:p>
        </p:txBody>
      </p:sp>
      <p:pic>
        <p:nvPicPr>
          <p:cNvPr id="3"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4" name="Shape 1"/>
          <p:cNvSpPr/>
          <p:nvPr/>
        </p:nvSpPr>
        <p:spPr>
          <a:xfrm>
            <a:off x="6230660" y="661035"/>
            <a:ext cx="1837849" cy="364808"/>
          </a:xfrm>
          <a:prstGeom prst="roundRect">
            <a:avLst>
              <a:gd name="adj" fmla="val 6121"/>
            </a:avLst>
          </a:prstGeom>
          <a:noFill/>
          <a:ln w="7620">
            <a:solidFill>
              <a:srgbClr val="E04F00"/>
            </a:solidFill>
            <a:prstDash val="solid"/>
          </a:ln>
        </p:spPr>
        <p:txBody>
          <a:bodyPr/>
          <a:lstStyle/>
          <a:p>
            <a:endParaRPr lang="en-US"/>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49841" y="769025"/>
            <a:ext cx="148828" cy="148828"/>
          </a:xfrm>
          <a:prstGeom prst="rect">
            <a:avLst/>
          </a:prstGeom>
        </p:spPr>
      </p:pic>
      <p:sp>
        <p:nvSpPr>
          <p:cNvPr id="6" name="Text 2"/>
          <p:cNvSpPr/>
          <p:nvPr/>
        </p:nvSpPr>
        <p:spPr>
          <a:xfrm>
            <a:off x="6573083" y="724376"/>
            <a:ext cx="1376243" cy="238125"/>
          </a:xfrm>
          <a:prstGeom prst="rect">
            <a:avLst/>
          </a:prstGeom>
          <a:noFill/>
          <a:ln/>
        </p:spPr>
        <p:txBody>
          <a:bodyPr wrap="none" lIns="0" tIns="0" rIns="0" bIns="0" rtlCol="0" anchor="t"/>
          <a:lstStyle/>
          <a:p>
            <a:pPr marL="0" indent="0" algn="l">
              <a:lnSpc>
                <a:spcPts val="1850"/>
              </a:lnSpc>
              <a:buNone/>
            </a:pPr>
            <a:r>
              <a:rPr lang="en-US" sz="1150" dirty="0">
                <a:solidFill>
                  <a:srgbClr val="E04F00"/>
                </a:solidFill>
                <a:latin typeface="DM Sans" pitchFamily="34" charset="0"/>
                <a:ea typeface="DM Sans" pitchFamily="34" charset="-122"/>
                <a:cs typeface="DM Sans" pitchFamily="34" charset="-120"/>
              </a:rPr>
              <a:t>NEURAL NETWORKS</a:t>
            </a:r>
            <a:endParaRPr lang="en-US" sz="1150" dirty="0"/>
          </a:p>
        </p:txBody>
      </p:sp>
      <p:sp>
        <p:nvSpPr>
          <p:cNvPr id="7" name="Text 3"/>
          <p:cNvSpPr/>
          <p:nvPr/>
        </p:nvSpPr>
        <p:spPr>
          <a:xfrm>
            <a:off x="6230660" y="1100257"/>
            <a:ext cx="5762149" cy="610433"/>
          </a:xfrm>
          <a:prstGeom prst="rect">
            <a:avLst/>
          </a:prstGeom>
          <a:noFill/>
          <a:ln/>
        </p:spPr>
        <p:txBody>
          <a:bodyPr wrap="none" lIns="0" tIns="0" rIns="0" bIns="0" rtlCol="0" anchor="t"/>
          <a:lstStyle/>
          <a:p>
            <a:pPr marL="0" indent="0" algn="l">
              <a:lnSpc>
                <a:spcPts val="4800"/>
              </a:lnSpc>
              <a:buNone/>
            </a:pPr>
            <a:r>
              <a:rPr lang="en-US" sz="3800" dirty="0">
                <a:solidFill>
                  <a:srgbClr val="020202"/>
                </a:solidFill>
                <a:latin typeface="PT Serif" pitchFamily="34" charset="0"/>
                <a:ea typeface="PT Serif" pitchFamily="34" charset="-122"/>
                <a:cs typeface="PT Serif" pitchFamily="34" charset="-120"/>
              </a:rPr>
              <a:t>Two Modeling Approaches</a:t>
            </a:r>
            <a:endParaRPr lang="en-US" sz="3800" dirty="0"/>
          </a:p>
        </p:txBody>
      </p:sp>
      <p:sp>
        <p:nvSpPr>
          <p:cNvPr id="8" name="Text 4"/>
          <p:cNvSpPr/>
          <p:nvPr/>
        </p:nvSpPr>
        <p:spPr>
          <a:xfrm>
            <a:off x="6230660" y="2175748"/>
            <a:ext cx="2442091" cy="305157"/>
          </a:xfrm>
          <a:prstGeom prst="rect">
            <a:avLst/>
          </a:prstGeom>
          <a:noFill/>
          <a:ln/>
        </p:spPr>
        <p:txBody>
          <a:bodyPr wrap="none" lIns="0" tIns="0" rIns="0" bIns="0" rtlCol="0" anchor="t"/>
          <a:lstStyle/>
          <a:p>
            <a:pPr marL="0" indent="0" algn="l">
              <a:lnSpc>
                <a:spcPts val="2400"/>
              </a:lnSpc>
              <a:buNone/>
            </a:pPr>
            <a:r>
              <a:rPr lang="en-US" sz="1900" dirty="0">
                <a:solidFill>
                  <a:srgbClr val="020202"/>
                </a:solidFill>
                <a:latin typeface="PT Serif" pitchFamily="34" charset="0"/>
                <a:ea typeface="PT Serif" pitchFamily="34" charset="-122"/>
                <a:cs typeface="PT Serif" pitchFamily="34" charset="-120"/>
              </a:rPr>
              <a:t>Feedforward MLP</a:t>
            </a:r>
            <a:endParaRPr lang="en-US" sz="1900" dirty="0"/>
          </a:p>
        </p:txBody>
      </p:sp>
      <p:sp>
        <p:nvSpPr>
          <p:cNvPr id="9" name="Text 5"/>
          <p:cNvSpPr/>
          <p:nvPr/>
        </p:nvSpPr>
        <p:spPr>
          <a:xfrm>
            <a:off x="6230660" y="2666881"/>
            <a:ext cx="3600807" cy="892969"/>
          </a:xfrm>
          <a:prstGeom prst="rect">
            <a:avLst/>
          </a:prstGeom>
          <a:noFill/>
          <a:ln/>
        </p:spPr>
        <p:txBody>
          <a:bodyPr wrap="squar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Architecture:</a:t>
            </a:r>
            <a:r>
              <a:rPr lang="en-US" sz="1450" dirty="0">
                <a:solidFill>
                  <a:srgbClr val="383838"/>
                </a:solidFill>
                <a:latin typeface="DM Sans" pitchFamily="34" charset="0"/>
                <a:ea typeface="DM Sans" pitchFamily="34" charset="-122"/>
                <a:cs typeface="DM Sans" pitchFamily="34" charset="-120"/>
              </a:rPr>
              <a:t> Multi-Layer Perceptron with progressively decreasing units (64→32→16)</a:t>
            </a:r>
            <a:endParaRPr lang="en-US" sz="1450" dirty="0"/>
          </a:p>
        </p:txBody>
      </p:sp>
      <p:sp>
        <p:nvSpPr>
          <p:cNvPr id="10" name="Text 6"/>
          <p:cNvSpPr/>
          <p:nvPr/>
        </p:nvSpPr>
        <p:spPr>
          <a:xfrm>
            <a:off x="6230660" y="3727252"/>
            <a:ext cx="3600807" cy="297656"/>
          </a:xfrm>
          <a:prstGeom prst="rect">
            <a:avLst/>
          </a:prstGeom>
          <a:noFill/>
          <a:ln/>
        </p:spPr>
        <p:txBody>
          <a:bodyPr wrap="non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Design Features:</a:t>
            </a:r>
            <a:endParaRPr lang="en-US" sz="1450" dirty="0"/>
          </a:p>
        </p:txBody>
      </p:sp>
      <p:sp>
        <p:nvSpPr>
          <p:cNvPr id="11" name="Text 7"/>
          <p:cNvSpPr/>
          <p:nvPr/>
        </p:nvSpPr>
        <p:spPr>
          <a:xfrm>
            <a:off x="6230660" y="4192310"/>
            <a:ext cx="3600807" cy="59531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ReLU activation for sparse representations</a:t>
            </a:r>
            <a:endParaRPr lang="en-US" sz="1450" dirty="0"/>
          </a:p>
        </p:txBody>
      </p:sp>
      <p:sp>
        <p:nvSpPr>
          <p:cNvPr id="12" name="Text 8"/>
          <p:cNvSpPr/>
          <p:nvPr/>
        </p:nvSpPr>
        <p:spPr>
          <a:xfrm>
            <a:off x="6230660" y="4852630"/>
            <a:ext cx="3600807" cy="59531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Batch normalization for training stability</a:t>
            </a:r>
            <a:endParaRPr lang="en-US" sz="1450" dirty="0"/>
          </a:p>
        </p:txBody>
      </p:sp>
      <p:sp>
        <p:nvSpPr>
          <p:cNvPr id="13" name="Text 9"/>
          <p:cNvSpPr/>
          <p:nvPr/>
        </p:nvSpPr>
        <p:spPr>
          <a:xfrm>
            <a:off x="6230660" y="5512951"/>
            <a:ext cx="3600807" cy="297656"/>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Dropout (0.3) to prevent overfitting</a:t>
            </a:r>
            <a:endParaRPr lang="en-US" sz="1450" dirty="0"/>
          </a:p>
        </p:txBody>
      </p:sp>
      <p:sp>
        <p:nvSpPr>
          <p:cNvPr id="14" name="Text 10"/>
          <p:cNvSpPr/>
          <p:nvPr/>
        </p:nvSpPr>
        <p:spPr>
          <a:xfrm>
            <a:off x="6230660" y="5875615"/>
            <a:ext cx="3600807" cy="297656"/>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L2 regularization for generalization</a:t>
            </a:r>
            <a:endParaRPr lang="en-US" sz="1450" dirty="0"/>
          </a:p>
        </p:txBody>
      </p:sp>
      <p:sp>
        <p:nvSpPr>
          <p:cNvPr id="15" name="Text 11"/>
          <p:cNvSpPr/>
          <p:nvPr/>
        </p:nvSpPr>
        <p:spPr>
          <a:xfrm>
            <a:off x="6230660" y="6340673"/>
            <a:ext cx="3600807" cy="297656"/>
          </a:xfrm>
          <a:prstGeom prst="rect">
            <a:avLst/>
          </a:prstGeom>
          <a:noFill/>
          <a:ln/>
        </p:spPr>
        <p:txBody>
          <a:bodyPr wrap="non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Total Parameters:</a:t>
            </a:r>
            <a:r>
              <a:rPr lang="en-US" sz="1450" dirty="0">
                <a:solidFill>
                  <a:srgbClr val="383838"/>
                </a:solidFill>
                <a:latin typeface="DM Sans" pitchFamily="34" charset="0"/>
                <a:ea typeface="DM Sans" pitchFamily="34" charset="-122"/>
                <a:cs typeface="DM Sans" pitchFamily="34" charset="-120"/>
              </a:rPr>
              <a:t> 3,393</a:t>
            </a:r>
            <a:endParaRPr lang="en-US" sz="1450" dirty="0"/>
          </a:p>
        </p:txBody>
      </p:sp>
      <p:sp>
        <p:nvSpPr>
          <p:cNvPr id="16" name="Text 12"/>
          <p:cNvSpPr/>
          <p:nvPr/>
        </p:nvSpPr>
        <p:spPr>
          <a:xfrm>
            <a:off x="6230660" y="6805732"/>
            <a:ext cx="3600807" cy="595313"/>
          </a:xfrm>
          <a:prstGeom prst="rect">
            <a:avLst/>
          </a:prstGeom>
          <a:noFill/>
          <a:ln/>
        </p:spPr>
        <p:txBody>
          <a:bodyPr wrap="squar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Best Use:</a:t>
            </a:r>
            <a:r>
              <a:rPr lang="en-US" sz="1450" dirty="0">
                <a:solidFill>
                  <a:srgbClr val="383838"/>
                </a:solidFill>
                <a:latin typeface="DM Sans" pitchFamily="34" charset="0"/>
                <a:ea typeface="DM Sans" pitchFamily="34" charset="-122"/>
                <a:cs typeface="DM Sans" pitchFamily="34" charset="-120"/>
              </a:rPr>
              <a:t> Cross-sectional snapshot predictions</a:t>
            </a:r>
            <a:endParaRPr lang="en-US" sz="1450" dirty="0"/>
          </a:p>
        </p:txBody>
      </p:sp>
      <p:sp>
        <p:nvSpPr>
          <p:cNvPr id="17" name="Text 13"/>
          <p:cNvSpPr/>
          <p:nvPr/>
        </p:nvSpPr>
        <p:spPr>
          <a:xfrm>
            <a:off x="10292953" y="2175748"/>
            <a:ext cx="2740819" cy="305157"/>
          </a:xfrm>
          <a:prstGeom prst="rect">
            <a:avLst/>
          </a:prstGeom>
          <a:noFill/>
          <a:ln/>
        </p:spPr>
        <p:txBody>
          <a:bodyPr wrap="none" lIns="0" tIns="0" rIns="0" bIns="0" rtlCol="0" anchor="t"/>
          <a:lstStyle/>
          <a:p>
            <a:pPr marL="0" indent="0" algn="l">
              <a:lnSpc>
                <a:spcPts val="2400"/>
              </a:lnSpc>
              <a:buNone/>
            </a:pPr>
            <a:r>
              <a:rPr lang="en-US" sz="1900" dirty="0">
                <a:solidFill>
                  <a:srgbClr val="020202"/>
                </a:solidFill>
                <a:latin typeface="PT Serif" pitchFamily="34" charset="0"/>
                <a:ea typeface="PT Serif" pitchFamily="34" charset="-122"/>
                <a:cs typeface="PT Serif" pitchFamily="34" charset="-120"/>
              </a:rPr>
              <a:t>LSTM Recurrent Network</a:t>
            </a:r>
            <a:endParaRPr lang="en-US" sz="1900" dirty="0"/>
          </a:p>
        </p:txBody>
      </p:sp>
      <p:sp>
        <p:nvSpPr>
          <p:cNvPr id="18" name="Text 14"/>
          <p:cNvSpPr/>
          <p:nvPr/>
        </p:nvSpPr>
        <p:spPr>
          <a:xfrm>
            <a:off x="10292953" y="2666881"/>
            <a:ext cx="3600807" cy="595313"/>
          </a:xfrm>
          <a:prstGeom prst="rect">
            <a:avLst/>
          </a:prstGeom>
          <a:noFill/>
          <a:ln/>
        </p:spPr>
        <p:txBody>
          <a:bodyPr wrap="squar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Architecture:</a:t>
            </a:r>
            <a:r>
              <a:rPr lang="en-US" sz="1450" dirty="0">
                <a:solidFill>
                  <a:srgbClr val="383838"/>
                </a:solidFill>
                <a:latin typeface="DM Sans" pitchFamily="34" charset="0"/>
                <a:ea typeface="DM Sans" pitchFamily="34" charset="-122"/>
                <a:cs typeface="DM Sans" pitchFamily="34" charset="-120"/>
              </a:rPr>
              <a:t> Long Short-Term Memory with stacked layers (64→32 units)</a:t>
            </a:r>
            <a:endParaRPr lang="en-US" sz="1450" dirty="0"/>
          </a:p>
        </p:txBody>
      </p:sp>
      <p:sp>
        <p:nvSpPr>
          <p:cNvPr id="19" name="Text 15"/>
          <p:cNvSpPr/>
          <p:nvPr/>
        </p:nvSpPr>
        <p:spPr>
          <a:xfrm>
            <a:off x="10292953" y="3429595"/>
            <a:ext cx="3600807" cy="297656"/>
          </a:xfrm>
          <a:prstGeom prst="rect">
            <a:avLst/>
          </a:prstGeom>
          <a:noFill/>
          <a:ln/>
        </p:spPr>
        <p:txBody>
          <a:bodyPr wrap="non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Design Features:</a:t>
            </a:r>
            <a:endParaRPr lang="en-US" sz="1450" dirty="0"/>
          </a:p>
        </p:txBody>
      </p:sp>
      <p:sp>
        <p:nvSpPr>
          <p:cNvPr id="20" name="Text 16"/>
          <p:cNvSpPr/>
          <p:nvPr/>
        </p:nvSpPr>
        <p:spPr>
          <a:xfrm>
            <a:off x="10292953" y="3894653"/>
            <a:ext cx="3600807" cy="59531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Gating mechanisms for long-term dependencies</a:t>
            </a:r>
            <a:endParaRPr lang="en-US" sz="1450" dirty="0"/>
          </a:p>
        </p:txBody>
      </p:sp>
      <p:sp>
        <p:nvSpPr>
          <p:cNvPr id="21" name="Text 17"/>
          <p:cNvSpPr/>
          <p:nvPr/>
        </p:nvSpPr>
        <p:spPr>
          <a:xfrm>
            <a:off x="10292953" y="4554974"/>
            <a:ext cx="3600807" cy="595313"/>
          </a:xfrm>
          <a:prstGeom prst="rect">
            <a:avLst/>
          </a:prstGeom>
          <a:noFill/>
          <a:ln/>
        </p:spPr>
        <p:txBody>
          <a:bodyPr wrap="squar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Layer normalization for recurrent stability</a:t>
            </a:r>
            <a:endParaRPr lang="en-US" sz="1450" dirty="0"/>
          </a:p>
        </p:txBody>
      </p:sp>
      <p:sp>
        <p:nvSpPr>
          <p:cNvPr id="22" name="Text 18"/>
          <p:cNvSpPr/>
          <p:nvPr/>
        </p:nvSpPr>
        <p:spPr>
          <a:xfrm>
            <a:off x="10292953" y="5215295"/>
            <a:ext cx="3600807" cy="297656"/>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Sequence length of 3 years</a:t>
            </a:r>
            <a:endParaRPr lang="en-US" sz="1450" dirty="0"/>
          </a:p>
        </p:txBody>
      </p:sp>
      <p:sp>
        <p:nvSpPr>
          <p:cNvPr id="23" name="Text 19"/>
          <p:cNvSpPr/>
          <p:nvPr/>
        </p:nvSpPr>
        <p:spPr>
          <a:xfrm>
            <a:off x="10292953" y="5577959"/>
            <a:ext cx="3600807" cy="297656"/>
          </a:xfrm>
          <a:prstGeom prst="rect">
            <a:avLst/>
          </a:prstGeom>
          <a:noFill/>
          <a:ln/>
        </p:spPr>
        <p:txBody>
          <a:bodyPr wrap="none" lIns="0" tIns="0" rIns="0" bIns="0" rtlCol="0" anchor="t"/>
          <a:lstStyle/>
          <a:p>
            <a:pPr marL="342900" indent="-342900" algn="l">
              <a:lnSpc>
                <a:spcPts val="2300"/>
              </a:lnSpc>
              <a:buSzPct val="100000"/>
              <a:buChar char="•"/>
            </a:pPr>
            <a:r>
              <a:rPr lang="en-US" sz="1450" dirty="0">
                <a:solidFill>
                  <a:srgbClr val="383838"/>
                </a:solidFill>
                <a:latin typeface="DM Sans" pitchFamily="34" charset="0"/>
                <a:ea typeface="DM Sans" pitchFamily="34" charset="-122"/>
                <a:cs typeface="DM Sans" pitchFamily="34" charset="-120"/>
              </a:rPr>
              <a:t>Temporal pattern extraction</a:t>
            </a:r>
            <a:endParaRPr lang="en-US" sz="1450" dirty="0"/>
          </a:p>
        </p:txBody>
      </p:sp>
      <p:sp>
        <p:nvSpPr>
          <p:cNvPr id="24" name="Text 20"/>
          <p:cNvSpPr/>
          <p:nvPr/>
        </p:nvSpPr>
        <p:spPr>
          <a:xfrm>
            <a:off x="10292953" y="6043017"/>
            <a:ext cx="3600807" cy="297656"/>
          </a:xfrm>
          <a:prstGeom prst="rect">
            <a:avLst/>
          </a:prstGeom>
          <a:noFill/>
          <a:ln/>
        </p:spPr>
        <p:txBody>
          <a:bodyPr wrap="non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Total Parameters:</a:t>
            </a:r>
            <a:r>
              <a:rPr lang="en-US" sz="1450" dirty="0">
                <a:solidFill>
                  <a:srgbClr val="383838"/>
                </a:solidFill>
                <a:latin typeface="DM Sans" pitchFamily="34" charset="0"/>
                <a:ea typeface="DM Sans" pitchFamily="34" charset="-122"/>
                <a:cs typeface="DM Sans" pitchFamily="34" charset="-120"/>
              </a:rPr>
              <a:t> 30,849</a:t>
            </a:r>
            <a:endParaRPr lang="en-US" sz="1450" dirty="0"/>
          </a:p>
        </p:txBody>
      </p:sp>
      <p:sp>
        <p:nvSpPr>
          <p:cNvPr id="25" name="Text 21"/>
          <p:cNvSpPr/>
          <p:nvPr/>
        </p:nvSpPr>
        <p:spPr>
          <a:xfrm>
            <a:off x="10292953" y="6508075"/>
            <a:ext cx="3600807" cy="297656"/>
          </a:xfrm>
          <a:prstGeom prst="rect">
            <a:avLst/>
          </a:prstGeom>
          <a:noFill/>
          <a:ln/>
        </p:spPr>
        <p:txBody>
          <a:bodyPr wrap="none" lIns="0" tIns="0" rIns="0" bIns="0" rtlCol="0" anchor="t"/>
          <a:lstStyle/>
          <a:p>
            <a:pPr marL="0" indent="0" algn="l">
              <a:lnSpc>
                <a:spcPts val="2300"/>
              </a:lnSpc>
              <a:buNone/>
            </a:pPr>
            <a:r>
              <a:rPr lang="en-US" sz="1450" b="1" dirty="0">
                <a:solidFill>
                  <a:srgbClr val="383838"/>
                </a:solidFill>
                <a:latin typeface="DM Sans" pitchFamily="34" charset="0"/>
                <a:ea typeface="DM Sans" pitchFamily="34" charset="-122"/>
                <a:cs typeface="DM Sans" pitchFamily="34" charset="-120"/>
              </a:rPr>
              <a:t>Best Use:</a:t>
            </a:r>
            <a:r>
              <a:rPr lang="en-US" sz="1450" dirty="0">
                <a:solidFill>
                  <a:srgbClr val="383838"/>
                </a:solidFill>
                <a:latin typeface="DM Sans" pitchFamily="34" charset="0"/>
                <a:ea typeface="DM Sans" pitchFamily="34" charset="-122"/>
                <a:cs typeface="DM Sans" pitchFamily="34" charset="-120"/>
              </a:rPr>
              <a:t> Temporal trend forecasting</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662226"/>
            <a:ext cx="2272784" cy="373142"/>
          </a:xfrm>
          <a:prstGeom prst="roundRect">
            <a:avLst>
              <a:gd name="adj" fmla="val 6383"/>
            </a:avLst>
          </a:prstGeom>
          <a:solidFill>
            <a:srgbClr val="FFDECC"/>
          </a:solidFill>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769382"/>
            <a:ext cx="158710" cy="158710"/>
          </a:xfrm>
          <a:prstGeom prst="rect">
            <a:avLst/>
          </a:prstGeom>
        </p:spPr>
      </p:pic>
      <p:sp>
        <p:nvSpPr>
          <p:cNvPr id="4" name="Text 1"/>
          <p:cNvSpPr/>
          <p:nvPr/>
        </p:nvSpPr>
        <p:spPr>
          <a:xfrm>
            <a:off x="1150858" y="721757"/>
            <a:ext cx="1796653"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PERFORMANCE RESULTS</a:t>
            </a:r>
            <a:endParaRPr lang="en-US" sz="1250" dirty="0"/>
          </a:p>
        </p:txBody>
      </p:sp>
      <p:sp>
        <p:nvSpPr>
          <p:cNvPr id="5" name="Text 2"/>
          <p:cNvSpPr/>
          <p:nvPr/>
        </p:nvSpPr>
        <p:spPr>
          <a:xfrm>
            <a:off x="793790" y="1114663"/>
            <a:ext cx="7360920"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Model Comparison and Insights</a:t>
            </a:r>
            <a:endParaRPr lang="en-US" sz="4100" dirty="0"/>
          </a:p>
        </p:txBody>
      </p:sp>
      <p:sp>
        <p:nvSpPr>
          <p:cNvPr id="6" name="Shape 3"/>
          <p:cNvSpPr/>
          <p:nvPr/>
        </p:nvSpPr>
        <p:spPr>
          <a:xfrm>
            <a:off x="793790" y="2063591"/>
            <a:ext cx="13042821" cy="3440668"/>
          </a:xfrm>
          <a:prstGeom prst="roundRect">
            <a:avLst>
              <a:gd name="adj" fmla="val 865"/>
            </a:avLst>
          </a:prstGeom>
          <a:noFill/>
          <a:ln w="7620">
            <a:solidFill>
              <a:srgbClr val="000000">
                <a:alpha val="8000"/>
              </a:srgbClr>
            </a:solidFill>
            <a:prstDash val="solid"/>
          </a:ln>
        </p:spPr>
        <p:txBody>
          <a:bodyPr/>
          <a:lstStyle/>
          <a:p>
            <a:endParaRPr lang="en-US"/>
          </a:p>
        </p:txBody>
      </p:sp>
      <p:sp>
        <p:nvSpPr>
          <p:cNvPr id="7" name="Shape 4"/>
          <p:cNvSpPr/>
          <p:nvPr/>
        </p:nvSpPr>
        <p:spPr>
          <a:xfrm>
            <a:off x="801410" y="2071211"/>
            <a:ext cx="13027581" cy="570905"/>
          </a:xfrm>
          <a:prstGeom prst="rect">
            <a:avLst/>
          </a:prstGeom>
          <a:solidFill>
            <a:srgbClr val="FFFFFF">
              <a:alpha val="4000"/>
            </a:srgbClr>
          </a:solidFill>
          <a:ln/>
        </p:spPr>
        <p:txBody>
          <a:bodyPr/>
          <a:lstStyle/>
          <a:p>
            <a:endParaRPr lang="en-US"/>
          </a:p>
        </p:txBody>
      </p:sp>
      <p:sp>
        <p:nvSpPr>
          <p:cNvPr id="8" name="Text 5"/>
          <p:cNvSpPr/>
          <p:nvPr/>
        </p:nvSpPr>
        <p:spPr>
          <a:xfrm>
            <a:off x="999887" y="2197894"/>
            <a:ext cx="4810482"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Metric</a:t>
            </a:r>
            <a:endParaRPr lang="en-US" sz="1550" dirty="0"/>
          </a:p>
        </p:txBody>
      </p:sp>
      <p:sp>
        <p:nvSpPr>
          <p:cNvPr id="9" name="Text 6"/>
          <p:cNvSpPr/>
          <p:nvPr/>
        </p:nvSpPr>
        <p:spPr>
          <a:xfrm>
            <a:off x="6214705" y="2197894"/>
            <a:ext cx="3503890"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MLP (Feedforward)</a:t>
            </a:r>
            <a:endParaRPr lang="en-US" sz="1550" dirty="0"/>
          </a:p>
        </p:txBody>
      </p:sp>
      <p:sp>
        <p:nvSpPr>
          <p:cNvPr id="10" name="Text 7"/>
          <p:cNvSpPr/>
          <p:nvPr/>
        </p:nvSpPr>
        <p:spPr>
          <a:xfrm>
            <a:off x="10122932" y="2197894"/>
            <a:ext cx="3507700" cy="317540"/>
          </a:xfrm>
          <a:prstGeom prst="rect">
            <a:avLst/>
          </a:prstGeom>
          <a:noFill/>
          <a:ln/>
        </p:spPr>
        <p:txBody>
          <a:bodyPr wrap="none" lIns="0" tIns="0" rIns="0" bIns="0" rtlCol="0" anchor="t"/>
          <a:lstStyle/>
          <a:p>
            <a:pPr marL="0" indent="0" algn="l">
              <a:lnSpc>
                <a:spcPts val="2500"/>
              </a:lnSpc>
              <a:buNone/>
            </a:pPr>
            <a:r>
              <a:rPr lang="en-US" sz="1550" b="1" dirty="0">
                <a:solidFill>
                  <a:srgbClr val="383838"/>
                </a:solidFill>
                <a:latin typeface="DM Sans" pitchFamily="34" charset="0"/>
                <a:ea typeface="DM Sans" pitchFamily="34" charset="-122"/>
                <a:cs typeface="DM Sans" pitchFamily="34" charset="-120"/>
              </a:rPr>
              <a:t>LSTM (Recurrent)</a:t>
            </a:r>
            <a:endParaRPr lang="en-US" sz="1550" dirty="0"/>
          </a:p>
        </p:txBody>
      </p:sp>
      <p:sp>
        <p:nvSpPr>
          <p:cNvPr id="11" name="Shape 8"/>
          <p:cNvSpPr/>
          <p:nvPr/>
        </p:nvSpPr>
        <p:spPr>
          <a:xfrm>
            <a:off x="801410" y="2642116"/>
            <a:ext cx="13027581" cy="570905"/>
          </a:xfrm>
          <a:prstGeom prst="rect">
            <a:avLst/>
          </a:prstGeom>
          <a:solidFill>
            <a:srgbClr val="000000">
              <a:alpha val="4000"/>
            </a:srgbClr>
          </a:solidFill>
          <a:ln/>
        </p:spPr>
        <p:txBody>
          <a:bodyPr/>
          <a:lstStyle/>
          <a:p>
            <a:endParaRPr lang="en-US"/>
          </a:p>
        </p:txBody>
      </p:sp>
      <p:sp>
        <p:nvSpPr>
          <p:cNvPr id="12" name="Text 9"/>
          <p:cNvSpPr/>
          <p:nvPr/>
        </p:nvSpPr>
        <p:spPr>
          <a:xfrm>
            <a:off x="999887" y="2768798"/>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RMSE</a:t>
            </a:r>
            <a:endParaRPr lang="en-US" sz="1550" dirty="0"/>
          </a:p>
        </p:txBody>
      </p:sp>
      <p:sp>
        <p:nvSpPr>
          <p:cNvPr id="13" name="Text 10"/>
          <p:cNvSpPr/>
          <p:nvPr/>
        </p:nvSpPr>
        <p:spPr>
          <a:xfrm>
            <a:off x="6214705" y="2768798"/>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0.2663</a:t>
            </a:r>
            <a:endParaRPr lang="en-US" sz="1550" dirty="0"/>
          </a:p>
        </p:txBody>
      </p:sp>
      <p:sp>
        <p:nvSpPr>
          <p:cNvPr id="14" name="Text 11"/>
          <p:cNvSpPr/>
          <p:nvPr/>
        </p:nvSpPr>
        <p:spPr>
          <a:xfrm>
            <a:off x="10122932" y="2768798"/>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3.3755</a:t>
            </a:r>
            <a:endParaRPr lang="en-US" sz="1550" dirty="0"/>
          </a:p>
        </p:txBody>
      </p:sp>
      <p:sp>
        <p:nvSpPr>
          <p:cNvPr id="15" name="Shape 12"/>
          <p:cNvSpPr/>
          <p:nvPr/>
        </p:nvSpPr>
        <p:spPr>
          <a:xfrm>
            <a:off x="801410" y="3213021"/>
            <a:ext cx="13027581" cy="570905"/>
          </a:xfrm>
          <a:prstGeom prst="rect">
            <a:avLst/>
          </a:prstGeom>
          <a:solidFill>
            <a:srgbClr val="FFFFFF">
              <a:alpha val="4000"/>
            </a:srgbClr>
          </a:solidFill>
          <a:ln/>
        </p:spPr>
        <p:txBody>
          <a:bodyPr/>
          <a:lstStyle/>
          <a:p>
            <a:endParaRPr lang="en-US"/>
          </a:p>
        </p:txBody>
      </p:sp>
      <p:sp>
        <p:nvSpPr>
          <p:cNvPr id="16" name="Text 13"/>
          <p:cNvSpPr/>
          <p:nvPr/>
        </p:nvSpPr>
        <p:spPr>
          <a:xfrm>
            <a:off x="999887" y="3339703"/>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MAE</a:t>
            </a:r>
            <a:endParaRPr lang="en-US" sz="1550" dirty="0"/>
          </a:p>
        </p:txBody>
      </p:sp>
      <p:sp>
        <p:nvSpPr>
          <p:cNvPr id="17" name="Text 14"/>
          <p:cNvSpPr/>
          <p:nvPr/>
        </p:nvSpPr>
        <p:spPr>
          <a:xfrm>
            <a:off x="6214705" y="3339703"/>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0.1958</a:t>
            </a:r>
            <a:endParaRPr lang="en-US" sz="1550" dirty="0"/>
          </a:p>
        </p:txBody>
      </p:sp>
      <p:sp>
        <p:nvSpPr>
          <p:cNvPr id="18" name="Text 15"/>
          <p:cNvSpPr/>
          <p:nvPr/>
        </p:nvSpPr>
        <p:spPr>
          <a:xfrm>
            <a:off x="10122932" y="3339703"/>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3.3755</a:t>
            </a:r>
            <a:endParaRPr lang="en-US" sz="1550" dirty="0"/>
          </a:p>
        </p:txBody>
      </p:sp>
      <p:sp>
        <p:nvSpPr>
          <p:cNvPr id="19" name="Shape 16"/>
          <p:cNvSpPr/>
          <p:nvPr/>
        </p:nvSpPr>
        <p:spPr>
          <a:xfrm>
            <a:off x="801410" y="3783925"/>
            <a:ext cx="13027581" cy="570905"/>
          </a:xfrm>
          <a:prstGeom prst="rect">
            <a:avLst/>
          </a:prstGeom>
          <a:solidFill>
            <a:srgbClr val="000000">
              <a:alpha val="4000"/>
            </a:srgbClr>
          </a:solidFill>
          <a:ln/>
        </p:spPr>
        <p:txBody>
          <a:bodyPr/>
          <a:lstStyle/>
          <a:p>
            <a:endParaRPr lang="en-US"/>
          </a:p>
        </p:txBody>
      </p:sp>
      <p:sp>
        <p:nvSpPr>
          <p:cNvPr id="20" name="Text 17"/>
          <p:cNvSpPr/>
          <p:nvPr/>
        </p:nvSpPr>
        <p:spPr>
          <a:xfrm>
            <a:off x="999887" y="3910608"/>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R² Score</a:t>
            </a:r>
            <a:endParaRPr lang="en-US" sz="1550" dirty="0"/>
          </a:p>
        </p:txBody>
      </p:sp>
      <p:sp>
        <p:nvSpPr>
          <p:cNvPr id="21" name="Text 18"/>
          <p:cNvSpPr/>
          <p:nvPr/>
        </p:nvSpPr>
        <p:spPr>
          <a:xfrm>
            <a:off x="6214705" y="3910608"/>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-0.1452</a:t>
            </a:r>
            <a:endParaRPr lang="en-US" sz="1550" dirty="0"/>
          </a:p>
        </p:txBody>
      </p:sp>
      <p:sp>
        <p:nvSpPr>
          <p:cNvPr id="22" name="Text 19"/>
          <p:cNvSpPr/>
          <p:nvPr/>
        </p:nvSpPr>
        <p:spPr>
          <a:xfrm>
            <a:off x="10122932" y="3910608"/>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nan</a:t>
            </a:r>
            <a:endParaRPr lang="en-US" sz="1550" dirty="0"/>
          </a:p>
        </p:txBody>
      </p:sp>
      <p:sp>
        <p:nvSpPr>
          <p:cNvPr id="23" name="Shape 20"/>
          <p:cNvSpPr/>
          <p:nvPr/>
        </p:nvSpPr>
        <p:spPr>
          <a:xfrm>
            <a:off x="801410" y="4354830"/>
            <a:ext cx="13027581" cy="570905"/>
          </a:xfrm>
          <a:prstGeom prst="rect">
            <a:avLst/>
          </a:prstGeom>
          <a:solidFill>
            <a:srgbClr val="FFFFFF">
              <a:alpha val="4000"/>
            </a:srgbClr>
          </a:solidFill>
          <a:ln/>
        </p:spPr>
        <p:txBody>
          <a:bodyPr/>
          <a:lstStyle/>
          <a:p>
            <a:endParaRPr lang="en-US"/>
          </a:p>
        </p:txBody>
      </p:sp>
      <p:sp>
        <p:nvSpPr>
          <p:cNvPr id="24" name="Text 21"/>
          <p:cNvSpPr/>
          <p:nvPr/>
        </p:nvSpPr>
        <p:spPr>
          <a:xfrm>
            <a:off x="999887" y="4481513"/>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Training Time</a:t>
            </a:r>
            <a:endParaRPr lang="en-US" sz="1550" dirty="0"/>
          </a:p>
        </p:txBody>
      </p:sp>
      <p:sp>
        <p:nvSpPr>
          <p:cNvPr id="25" name="Text 22"/>
          <p:cNvSpPr/>
          <p:nvPr/>
        </p:nvSpPr>
        <p:spPr>
          <a:xfrm>
            <a:off x="6214705" y="4481513"/>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Fast (~2 min)</a:t>
            </a:r>
            <a:endParaRPr lang="en-US" sz="1550" dirty="0"/>
          </a:p>
        </p:txBody>
      </p:sp>
      <p:sp>
        <p:nvSpPr>
          <p:cNvPr id="26" name="Text 23"/>
          <p:cNvSpPr/>
          <p:nvPr/>
        </p:nvSpPr>
        <p:spPr>
          <a:xfrm>
            <a:off x="10122932" y="4481513"/>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Moderate (~5 min)</a:t>
            </a:r>
            <a:endParaRPr lang="en-US" sz="1550" dirty="0"/>
          </a:p>
        </p:txBody>
      </p:sp>
      <p:sp>
        <p:nvSpPr>
          <p:cNvPr id="27" name="Shape 24"/>
          <p:cNvSpPr/>
          <p:nvPr/>
        </p:nvSpPr>
        <p:spPr>
          <a:xfrm>
            <a:off x="801410" y="4925735"/>
            <a:ext cx="13027581" cy="570905"/>
          </a:xfrm>
          <a:prstGeom prst="rect">
            <a:avLst/>
          </a:prstGeom>
          <a:solidFill>
            <a:srgbClr val="000000">
              <a:alpha val="4000"/>
            </a:srgbClr>
          </a:solidFill>
          <a:ln/>
        </p:spPr>
        <p:txBody>
          <a:bodyPr/>
          <a:lstStyle/>
          <a:p>
            <a:endParaRPr lang="en-US"/>
          </a:p>
        </p:txBody>
      </p:sp>
      <p:sp>
        <p:nvSpPr>
          <p:cNvPr id="28" name="Text 25"/>
          <p:cNvSpPr/>
          <p:nvPr/>
        </p:nvSpPr>
        <p:spPr>
          <a:xfrm>
            <a:off x="999887" y="5052417"/>
            <a:ext cx="4810482"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Data Requirements</a:t>
            </a:r>
            <a:endParaRPr lang="en-US" sz="1550" dirty="0"/>
          </a:p>
        </p:txBody>
      </p:sp>
      <p:sp>
        <p:nvSpPr>
          <p:cNvPr id="29" name="Text 26"/>
          <p:cNvSpPr/>
          <p:nvPr/>
        </p:nvSpPr>
        <p:spPr>
          <a:xfrm>
            <a:off x="6214705" y="5052417"/>
            <a:ext cx="350389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Cross-sectional</a:t>
            </a:r>
            <a:endParaRPr lang="en-US" sz="1550" dirty="0"/>
          </a:p>
        </p:txBody>
      </p:sp>
      <p:sp>
        <p:nvSpPr>
          <p:cNvPr id="30" name="Text 27"/>
          <p:cNvSpPr/>
          <p:nvPr/>
        </p:nvSpPr>
        <p:spPr>
          <a:xfrm>
            <a:off x="10122932" y="5052417"/>
            <a:ext cx="3507700" cy="317540"/>
          </a:xfrm>
          <a:prstGeom prst="rect">
            <a:avLst/>
          </a:prstGeom>
          <a:noFill/>
          <a:ln/>
        </p:spPr>
        <p:txBody>
          <a:bodyPr wrap="non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Temporal sequences</a:t>
            </a:r>
            <a:endParaRPr lang="en-US" sz="1550" dirty="0"/>
          </a:p>
        </p:txBody>
      </p:sp>
      <p:sp>
        <p:nvSpPr>
          <p:cNvPr id="31" name="Shape 28"/>
          <p:cNvSpPr/>
          <p:nvPr/>
        </p:nvSpPr>
        <p:spPr>
          <a:xfrm>
            <a:off x="793790" y="5727502"/>
            <a:ext cx="4215289" cy="1839754"/>
          </a:xfrm>
          <a:prstGeom prst="roundRect">
            <a:avLst>
              <a:gd name="adj" fmla="val 5964"/>
            </a:avLst>
          </a:prstGeom>
          <a:solidFill>
            <a:srgbClr val="FFFFFF"/>
          </a:solidFill>
          <a:ln w="22860">
            <a:solidFill>
              <a:srgbClr val="D8D4D4"/>
            </a:solidFill>
            <a:prstDash val="solid"/>
          </a:ln>
        </p:spPr>
        <p:txBody>
          <a:bodyPr/>
          <a:lstStyle/>
          <a:p>
            <a:endParaRPr lang="en-US"/>
          </a:p>
        </p:txBody>
      </p:sp>
      <p:sp>
        <p:nvSpPr>
          <p:cNvPr id="32" name="Shape 29"/>
          <p:cNvSpPr/>
          <p:nvPr/>
        </p:nvSpPr>
        <p:spPr>
          <a:xfrm>
            <a:off x="770930" y="5727502"/>
            <a:ext cx="91440" cy="1839754"/>
          </a:xfrm>
          <a:prstGeom prst="roundRect">
            <a:avLst>
              <a:gd name="adj" fmla="val 32558"/>
            </a:avLst>
          </a:prstGeom>
          <a:solidFill>
            <a:srgbClr val="E04F00"/>
          </a:solidFill>
          <a:ln/>
        </p:spPr>
        <p:txBody>
          <a:bodyPr/>
          <a:lstStyle/>
          <a:p>
            <a:endParaRPr lang="en-US"/>
          </a:p>
        </p:txBody>
      </p:sp>
      <p:sp>
        <p:nvSpPr>
          <p:cNvPr id="33" name="Text 30"/>
          <p:cNvSpPr/>
          <p:nvPr/>
        </p:nvSpPr>
        <p:spPr>
          <a:xfrm>
            <a:off x="1083588" y="5948720"/>
            <a:ext cx="2802850"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MLP Outperforms LSTM</a:t>
            </a:r>
            <a:endParaRPr lang="en-US" sz="2050" dirty="0"/>
          </a:p>
        </p:txBody>
      </p:sp>
      <p:sp>
        <p:nvSpPr>
          <p:cNvPr id="34" name="Text 31"/>
          <p:cNvSpPr/>
          <p:nvPr/>
        </p:nvSpPr>
        <p:spPr>
          <a:xfrm>
            <a:off x="1083588" y="6393418"/>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Cross-sectional approach more suitable given limited temporal data (only 6 years)</a:t>
            </a:r>
            <a:endParaRPr lang="en-US" sz="1550" dirty="0"/>
          </a:p>
        </p:txBody>
      </p:sp>
      <p:sp>
        <p:nvSpPr>
          <p:cNvPr id="35" name="Shape 32"/>
          <p:cNvSpPr/>
          <p:nvPr/>
        </p:nvSpPr>
        <p:spPr>
          <a:xfrm>
            <a:off x="5207437" y="5727502"/>
            <a:ext cx="4215408" cy="1839754"/>
          </a:xfrm>
          <a:prstGeom prst="roundRect">
            <a:avLst>
              <a:gd name="adj" fmla="val 5964"/>
            </a:avLst>
          </a:prstGeom>
          <a:solidFill>
            <a:srgbClr val="FFFFFF"/>
          </a:solidFill>
          <a:ln w="22860">
            <a:solidFill>
              <a:srgbClr val="D8D4D4"/>
            </a:solidFill>
            <a:prstDash val="solid"/>
          </a:ln>
        </p:spPr>
        <p:txBody>
          <a:bodyPr/>
          <a:lstStyle/>
          <a:p>
            <a:endParaRPr lang="en-US"/>
          </a:p>
        </p:txBody>
      </p:sp>
      <p:sp>
        <p:nvSpPr>
          <p:cNvPr id="36" name="Shape 33"/>
          <p:cNvSpPr/>
          <p:nvPr/>
        </p:nvSpPr>
        <p:spPr>
          <a:xfrm>
            <a:off x="5184577" y="5727502"/>
            <a:ext cx="91440" cy="1839754"/>
          </a:xfrm>
          <a:prstGeom prst="roundRect">
            <a:avLst>
              <a:gd name="adj" fmla="val 32558"/>
            </a:avLst>
          </a:prstGeom>
          <a:solidFill>
            <a:srgbClr val="E04F00"/>
          </a:solidFill>
          <a:ln/>
        </p:spPr>
        <p:txBody>
          <a:bodyPr/>
          <a:lstStyle/>
          <a:p>
            <a:endParaRPr lang="en-US"/>
          </a:p>
        </p:txBody>
      </p:sp>
      <p:sp>
        <p:nvSpPr>
          <p:cNvPr id="37" name="Text 34"/>
          <p:cNvSpPr/>
          <p:nvPr/>
        </p:nvSpPr>
        <p:spPr>
          <a:xfrm>
            <a:off x="5497235" y="5948720"/>
            <a:ext cx="3134320"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High Unexplained Variance</a:t>
            </a:r>
            <a:endParaRPr lang="en-US" sz="2050" dirty="0"/>
          </a:p>
        </p:txBody>
      </p:sp>
      <p:sp>
        <p:nvSpPr>
          <p:cNvPr id="38" name="Text 35"/>
          <p:cNvSpPr/>
          <p:nvPr/>
        </p:nvSpPr>
        <p:spPr>
          <a:xfrm>
            <a:off x="5497235" y="6393418"/>
            <a:ext cx="3704392"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Negative R² indicates models perform worse than predicting the mean, suggesting missing critical predictors</a:t>
            </a:r>
            <a:endParaRPr lang="en-US" sz="1550" dirty="0"/>
          </a:p>
        </p:txBody>
      </p:sp>
      <p:sp>
        <p:nvSpPr>
          <p:cNvPr id="39" name="Shape 36"/>
          <p:cNvSpPr/>
          <p:nvPr/>
        </p:nvSpPr>
        <p:spPr>
          <a:xfrm>
            <a:off x="9621203" y="5727502"/>
            <a:ext cx="4215289" cy="1839754"/>
          </a:xfrm>
          <a:prstGeom prst="roundRect">
            <a:avLst>
              <a:gd name="adj" fmla="val 5964"/>
            </a:avLst>
          </a:prstGeom>
          <a:solidFill>
            <a:srgbClr val="FFFFFF"/>
          </a:solidFill>
          <a:ln w="22860">
            <a:solidFill>
              <a:srgbClr val="D8D4D4"/>
            </a:solidFill>
            <a:prstDash val="solid"/>
          </a:ln>
        </p:spPr>
        <p:txBody>
          <a:bodyPr/>
          <a:lstStyle/>
          <a:p>
            <a:endParaRPr lang="en-US"/>
          </a:p>
        </p:txBody>
      </p:sp>
      <p:sp>
        <p:nvSpPr>
          <p:cNvPr id="40" name="Shape 37"/>
          <p:cNvSpPr/>
          <p:nvPr/>
        </p:nvSpPr>
        <p:spPr>
          <a:xfrm>
            <a:off x="9598343" y="5727502"/>
            <a:ext cx="91440" cy="1839754"/>
          </a:xfrm>
          <a:prstGeom prst="roundRect">
            <a:avLst>
              <a:gd name="adj" fmla="val 32558"/>
            </a:avLst>
          </a:prstGeom>
          <a:solidFill>
            <a:srgbClr val="E04F00"/>
          </a:solidFill>
          <a:ln/>
        </p:spPr>
        <p:txBody>
          <a:bodyPr/>
          <a:lstStyle/>
          <a:p>
            <a:endParaRPr lang="en-US"/>
          </a:p>
        </p:txBody>
      </p:sp>
      <p:sp>
        <p:nvSpPr>
          <p:cNvPr id="41" name="Text 38"/>
          <p:cNvSpPr/>
          <p:nvPr/>
        </p:nvSpPr>
        <p:spPr>
          <a:xfrm>
            <a:off x="9911001" y="5948720"/>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No Severe Overfitting</a:t>
            </a:r>
            <a:endParaRPr lang="en-US" sz="2050" dirty="0"/>
          </a:p>
        </p:txBody>
      </p:sp>
      <p:sp>
        <p:nvSpPr>
          <p:cNvPr id="42" name="Text 39"/>
          <p:cNvSpPr/>
          <p:nvPr/>
        </p:nvSpPr>
        <p:spPr>
          <a:xfrm>
            <a:off x="9911001" y="6393418"/>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Both models showed reasonable train/validation convergence with stable learning dynamics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710922"/>
            <a:ext cx="1508165" cy="388382"/>
          </a:xfrm>
          <a:prstGeom prst="roundRect">
            <a:avLst>
              <a:gd name="adj" fmla="val 6132"/>
            </a:avLst>
          </a:prstGeom>
          <a:noFill/>
          <a:ln w="7620">
            <a:solidFill>
              <a:srgbClr val="E04F00"/>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0472" y="825698"/>
            <a:ext cx="158710" cy="158710"/>
          </a:xfrm>
          <a:prstGeom prst="rect">
            <a:avLst/>
          </a:prstGeom>
        </p:spPr>
      </p:pic>
      <p:sp>
        <p:nvSpPr>
          <p:cNvPr id="4" name="Text 1"/>
          <p:cNvSpPr/>
          <p:nvPr/>
        </p:nvSpPr>
        <p:spPr>
          <a:xfrm>
            <a:off x="1158478" y="778073"/>
            <a:ext cx="1016794" cy="254079"/>
          </a:xfrm>
          <a:prstGeom prst="rect">
            <a:avLst/>
          </a:prstGeom>
          <a:noFill/>
          <a:ln/>
        </p:spPr>
        <p:txBody>
          <a:bodyPr wrap="none" lIns="0" tIns="0" rIns="0" bIns="0" rtlCol="0" anchor="t"/>
          <a:lstStyle/>
          <a:p>
            <a:pPr marL="0" indent="0" algn="l">
              <a:lnSpc>
                <a:spcPts val="2000"/>
              </a:lnSpc>
              <a:buNone/>
            </a:pPr>
            <a:r>
              <a:rPr lang="en-US" sz="1250" dirty="0">
                <a:solidFill>
                  <a:srgbClr val="E04F00"/>
                </a:solidFill>
                <a:latin typeface="DM Sans" pitchFamily="34" charset="0"/>
                <a:ea typeface="DM Sans" pitchFamily="34" charset="-122"/>
                <a:cs typeface="DM Sans" pitchFamily="34" charset="-120"/>
              </a:rPr>
              <a:t>KEY FINDINGS</a:t>
            </a:r>
            <a:endParaRPr lang="en-US" sz="1250" dirty="0"/>
          </a:p>
        </p:txBody>
      </p:sp>
      <p:sp>
        <p:nvSpPr>
          <p:cNvPr id="5" name="Text 2"/>
          <p:cNvSpPr/>
          <p:nvPr/>
        </p:nvSpPr>
        <p:spPr>
          <a:xfrm>
            <a:off x="793790" y="1178600"/>
            <a:ext cx="797135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Scientific Insights and Limitations</a:t>
            </a:r>
            <a:endParaRPr lang="en-US" sz="4100" dirty="0"/>
          </a:p>
        </p:txBody>
      </p:sp>
      <p:sp>
        <p:nvSpPr>
          <p:cNvPr id="6" name="Text 3"/>
          <p:cNvSpPr/>
          <p:nvPr/>
        </p:nvSpPr>
        <p:spPr>
          <a:xfrm>
            <a:off x="793790" y="1909167"/>
            <a:ext cx="4167902"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What Worked Well</a:t>
            </a:r>
            <a:endParaRPr lang="en-US" sz="3250" dirty="0"/>
          </a:p>
        </p:txBody>
      </p:sp>
      <p:sp>
        <p:nvSpPr>
          <p:cNvPr id="7" name="Shape 4"/>
          <p:cNvSpPr/>
          <p:nvPr/>
        </p:nvSpPr>
        <p:spPr>
          <a:xfrm>
            <a:off x="793790" y="2727841"/>
            <a:ext cx="446484" cy="446484"/>
          </a:xfrm>
          <a:prstGeom prst="roundRect">
            <a:avLst>
              <a:gd name="adj" fmla="val 6668"/>
            </a:avLst>
          </a:prstGeom>
          <a:solidFill>
            <a:srgbClr val="F2EEEE"/>
          </a:solidFill>
          <a:ln/>
        </p:spPr>
        <p:txBody>
          <a:bodyPr/>
          <a:lstStyle/>
          <a:p>
            <a:endParaRPr lang="en-US"/>
          </a:p>
        </p:txBody>
      </p:sp>
      <p:sp>
        <p:nvSpPr>
          <p:cNvPr id="8" name="Text 5"/>
          <p:cNvSpPr/>
          <p:nvPr/>
        </p:nvSpPr>
        <p:spPr>
          <a:xfrm>
            <a:off x="1438632" y="2796064"/>
            <a:ext cx="3537347" cy="651272"/>
          </a:xfrm>
          <a:prstGeom prst="rect">
            <a:avLst/>
          </a:prstGeom>
          <a:noFill/>
          <a:ln/>
        </p:spPr>
        <p:txBody>
          <a:bodyPr wrap="squar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PCA Successfully Reduced Dimensionality</a:t>
            </a:r>
            <a:endParaRPr lang="en-US" sz="2050" dirty="0"/>
          </a:p>
        </p:txBody>
      </p:sp>
      <p:sp>
        <p:nvSpPr>
          <p:cNvPr id="9" name="Text 6"/>
          <p:cNvSpPr/>
          <p:nvPr/>
        </p:nvSpPr>
        <p:spPr>
          <a:xfrm>
            <a:off x="1438632" y="3566398"/>
            <a:ext cx="3537347"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58% reduction while retaining 98.5% variance enabled efficient neural network training</a:t>
            </a:r>
            <a:endParaRPr lang="en-US" sz="1550" dirty="0"/>
          </a:p>
        </p:txBody>
      </p:sp>
      <p:sp>
        <p:nvSpPr>
          <p:cNvPr id="10" name="Shape 7"/>
          <p:cNvSpPr/>
          <p:nvPr/>
        </p:nvSpPr>
        <p:spPr>
          <a:xfrm>
            <a:off x="5223986" y="2727841"/>
            <a:ext cx="446484" cy="446484"/>
          </a:xfrm>
          <a:prstGeom prst="roundRect">
            <a:avLst>
              <a:gd name="adj" fmla="val 6668"/>
            </a:avLst>
          </a:prstGeom>
          <a:solidFill>
            <a:srgbClr val="F2EEEE"/>
          </a:solidFill>
          <a:ln/>
        </p:spPr>
        <p:txBody>
          <a:bodyPr/>
          <a:lstStyle/>
          <a:p>
            <a:endParaRPr lang="en-US"/>
          </a:p>
        </p:txBody>
      </p:sp>
      <p:sp>
        <p:nvSpPr>
          <p:cNvPr id="11" name="Text 8"/>
          <p:cNvSpPr/>
          <p:nvPr/>
        </p:nvSpPr>
        <p:spPr>
          <a:xfrm>
            <a:off x="5868829" y="2796064"/>
            <a:ext cx="306609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Interpretable Components</a:t>
            </a:r>
            <a:endParaRPr lang="en-US" sz="2050" dirty="0"/>
          </a:p>
        </p:txBody>
      </p:sp>
      <p:sp>
        <p:nvSpPr>
          <p:cNvPr id="12" name="Text 9"/>
          <p:cNvSpPr/>
          <p:nvPr/>
        </p:nvSpPr>
        <p:spPr>
          <a:xfrm>
            <a:off x="5868829" y="3240762"/>
            <a:ext cx="3537466"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PC1 clearly represents cumulative vulnerability burden, aligning with Justice40 priorities</a:t>
            </a:r>
            <a:endParaRPr lang="en-US" sz="1550" dirty="0"/>
          </a:p>
        </p:txBody>
      </p:sp>
      <p:sp>
        <p:nvSpPr>
          <p:cNvPr id="13" name="Shape 10"/>
          <p:cNvSpPr/>
          <p:nvPr/>
        </p:nvSpPr>
        <p:spPr>
          <a:xfrm>
            <a:off x="9654302" y="2727841"/>
            <a:ext cx="446484" cy="446484"/>
          </a:xfrm>
          <a:prstGeom prst="roundRect">
            <a:avLst>
              <a:gd name="adj" fmla="val 6668"/>
            </a:avLst>
          </a:prstGeom>
          <a:solidFill>
            <a:srgbClr val="F2EEEE"/>
          </a:solidFill>
          <a:ln/>
        </p:spPr>
        <p:txBody>
          <a:bodyPr/>
          <a:lstStyle/>
          <a:p>
            <a:endParaRPr lang="en-US"/>
          </a:p>
        </p:txBody>
      </p:sp>
      <p:sp>
        <p:nvSpPr>
          <p:cNvPr id="14" name="Text 11"/>
          <p:cNvSpPr/>
          <p:nvPr/>
        </p:nvSpPr>
        <p:spPr>
          <a:xfrm>
            <a:off x="10299144" y="2796064"/>
            <a:ext cx="294822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Computational Efficiency</a:t>
            </a:r>
            <a:endParaRPr lang="en-US" sz="2050" dirty="0"/>
          </a:p>
        </p:txBody>
      </p:sp>
      <p:sp>
        <p:nvSpPr>
          <p:cNvPr id="15" name="Text 12"/>
          <p:cNvSpPr/>
          <p:nvPr/>
        </p:nvSpPr>
        <p:spPr>
          <a:xfrm>
            <a:off x="10299144" y="3240762"/>
            <a:ext cx="3537466" cy="952619"/>
          </a:xfrm>
          <a:prstGeom prst="rect">
            <a:avLst/>
          </a:prstGeom>
          <a:noFill/>
          <a:ln/>
        </p:spPr>
        <p:txBody>
          <a:bodyPr wrap="square" lIns="0" tIns="0" rIns="0" bIns="0" rtlCol="0" anchor="t"/>
          <a:lstStyle/>
          <a:p>
            <a:pPr marL="0" indent="0" algn="l">
              <a:lnSpc>
                <a:spcPts val="2500"/>
              </a:lnSpc>
              <a:buNone/>
            </a:pPr>
            <a:r>
              <a:rPr lang="en-US" sz="1550" dirty="0">
                <a:solidFill>
                  <a:srgbClr val="383838"/>
                </a:solidFill>
                <a:latin typeface="DM Sans" pitchFamily="34" charset="0"/>
                <a:ea typeface="DM Sans" pitchFamily="34" charset="-122"/>
                <a:cs typeface="DM Sans" pitchFamily="34" charset="-120"/>
              </a:rPr>
              <a:t>PCA-compressed features enabled fast training without sacrificing information content</a:t>
            </a:r>
            <a:endParaRPr lang="en-US" sz="1550" dirty="0"/>
          </a:p>
        </p:txBody>
      </p:sp>
      <p:sp>
        <p:nvSpPr>
          <p:cNvPr id="16" name="Text 13"/>
          <p:cNvSpPr/>
          <p:nvPr/>
        </p:nvSpPr>
        <p:spPr>
          <a:xfrm>
            <a:off x="793790" y="4816673"/>
            <a:ext cx="4694396"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Critical Missing Variables</a:t>
            </a:r>
            <a:endParaRPr lang="en-US" sz="3250" dirty="0"/>
          </a:p>
        </p:txBody>
      </p:sp>
      <p:sp>
        <p:nvSpPr>
          <p:cNvPr id="17" name="Text 14"/>
          <p:cNvSpPr/>
          <p:nvPr/>
        </p:nvSpPr>
        <p:spPr>
          <a:xfrm>
            <a:off x="793790" y="58337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Healthcare Access</a:t>
            </a:r>
            <a:endParaRPr lang="en-US" sz="2050" dirty="0"/>
          </a:p>
        </p:txBody>
      </p:sp>
      <p:sp>
        <p:nvSpPr>
          <p:cNvPr id="18" name="Text 15"/>
          <p:cNvSpPr/>
          <p:nvPr/>
        </p:nvSpPr>
        <p:spPr>
          <a:xfrm>
            <a:off x="793790" y="6357699"/>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Hospital bed capacity</a:t>
            </a:r>
            <a:endParaRPr lang="en-US" sz="1550" dirty="0"/>
          </a:p>
        </p:txBody>
      </p:sp>
      <p:sp>
        <p:nvSpPr>
          <p:cNvPr id="19" name="Text 16"/>
          <p:cNvSpPr/>
          <p:nvPr/>
        </p:nvSpPr>
        <p:spPr>
          <a:xfrm>
            <a:off x="793790" y="6744653"/>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Emergency department resources</a:t>
            </a:r>
            <a:endParaRPr lang="en-US" sz="1550" dirty="0"/>
          </a:p>
        </p:txBody>
      </p:sp>
      <p:sp>
        <p:nvSpPr>
          <p:cNvPr id="20" name="Text 17"/>
          <p:cNvSpPr/>
          <p:nvPr/>
        </p:nvSpPr>
        <p:spPr>
          <a:xfrm>
            <a:off x="793790" y="7131606"/>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Healthcare provider density</a:t>
            </a:r>
            <a:endParaRPr lang="en-US" sz="1550" dirty="0"/>
          </a:p>
        </p:txBody>
      </p:sp>
      <p:sp>
        <p:nvSpPr>
          <p:cNvPr id="21" name="Text 18"/>
          <p:cNvSpPr/>
          <p:nvPr/>
        </p:nvSpPr>
        <p:spPr>
          <a:xfrm>
            <a:off x="5265182" y="58337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Infrastructure</a:t>
            </a:r>
            <a:endParaRPr lang="en-US" sz="2050" dirty="0"/>
          </a:p>
        </p:txBody>
      </p:sp>
      <p:sp>
        <p:nvSpPr>
          <p:cNvPr id="22" name="Text 19"/>
          <p:cNvSpPr/>
          <p:nvPr/>
        </p:nvSpPr>
        <p:spPr>
          <a:xfrm>
            <a:off x="5265182" y="6357699"/>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Air conditioning prevalence</a:t>
            </a:r>
            <a:endParaRPr lang="en-US" sz="1550" dirty="0"/>
          </a:p>
        </p:txBody>
      </p:sp>
      <p:sp>
        <p:nvSpPr>
          <p:cNvPr id="23" name="Text 20"/>
          <p:cNvSpPr/>
          <p:nvPr/>
        </p:nvSpPr>
        <p:spPr>
          <a:xfrm>
            <a:off x="5265182" y="6744653"/>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Urban heat island intensity</a:t>
            </a:r>
            <a:endParaRPr lang="en-US" sz="1550" dirty="0"/>
          </a:p>
        </p:txBody>
      </p:sp>
      <p:sp>
        <p:nvSpPr>
          <p:cNvPr id="24" name="Text 21"/>
          <p:cNvSpPr/>
          <p:nvPr/>
        </p:nvSpPr>
        <p:spPr>
          <a:xfrm>
            <a:off x="5265182" y="7131606"/>
            <a:ext cx="3979664"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Cooling center locations</a:t>
            </a:r>
            <a:endParaRPr lang="en-US" sz="1550" dirty="0"/>
          </a:p>
        </p:txBody>
      </p:sp>
      <p:sp>
        <p:nvSpPr>
          <p:cNvPr id="25" name="Text 22"/>
          <p:cNvSpPr/>
          <p:nvPr/>
        </p:nvSpPr>
        <p:spPr>
          <a:xfrm>
            <a:off x="9736574" y="583370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020202"/>
                </a:solidFill>
                <a:latin typeface="PT Serif" pitchFamily="34" charset="0"/>
                <a:ea typeface="PT Serif" pitchFamily="34" charset="-122"/>
                <a:cs typeface="PT Serif" pitchFamily="34" charset="-120"/>
              </a:rPr>
              <a:t>Behavioral Factors</a:t>
            </a:r>
            <a:endParaRPr lang="en-US" sz="2050" dirty="0"/>
          </a:p>
        </p:txBody>
      </p:sp>
      <p:sp>
        <p:nvSpPr>
          <p:cNvPr id="26" name="Text 23"/>
          <p:cNvSpPr/>
          <p:nvPr/>
        </p:nvSpPr>
        <p:spPr>
          <a:xfrm>
            <a:off x="9736574" y="6357699"/>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Outdoor work exposure</a:t>
            </a:r>
            <a:endParaRPr lang="en-US" sz="1550" dirty="0"/>
          </a:p>
        </p:txBody>
      </p:sp>
      <p:sp>
        <p:nvSpPr>
          <p:cNvPr id="27" name="Text 24"/>
          <p:cNvSpPr/>
          <p:nvPr/>
        </p:nvSpPr>
        <p:spPr>
          <a:xfrm>
            <a:off x="9736574" y="6744653"/>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Elderly isolation patterns</a:t>
            </a:r>
            <a:endParaRPr lang="en-US" sz="1550" dirty="0"/>
          </a:p>
        </p:txBody>
      </p:sp>
      <p:sp>
        <p:nvSpPr>
          <p:cNvPr id="28" name="Text 25"/>
          <p:cNvSpPr/>
          <p:nvPr/>
        </p:nvSpPr>
        <p:spPr>
          <a:xfrm>
            <a:off x="9736574" y="7131606"/>
            <a:ext cx="4115038"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83838"/>
                </a:solidFill>
                <a:latin typeface="DM Sans" pitchFamily="34" charset="0"/>
                <a:ea typeface="DM Sans" pitchFamily="34" charset="-122"/>
                <a:cs typeface="DM Sans" pitchFamily="34" charset="-120"/>
              </a:rPr>
              <a:t>Real-time weather conditions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0329" y="502087"/>
            <a:ext cx="1925241" cy="343257"/>
          </a:xfrm>
          <a:prstGeom prst="roundRect">
            <a:avLst>
              <a:gd name="adj" fmla="val 6383"/>
            </a:avLst>
          </a:prstGeom>
          <a:solidFill>
            <a:srgbClr val="FFDECC"/>
          </a:solidFill>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9867" y="600670"/>
            <a:ext cx="145971" cy="145971"/>
          </a:xfrm>
          <a:prstGeom prst="rect">
            <a:avLst/>
          </a:prstGeom>
        </p:spPr>
      </p:pic>
      <p:sp>
        <p:nvSpPr>
          <p:cNvPr id="4" name="Text 1"/>
          <p:cNvSpPr/>
          <p:nvPr/>
        </p:nvSpPr>
        <p:spPr>
          <a:xfrm>
            <a:off x="1058823" y="556855"/>
            <a:ext cx="1487210" cy="233720"/>
          </a:xfrm>
          <a:prstGeom prst="rect">
            <a:avLst/>
          </a:prstGeom>
          <a:noFill/>
          <a:ln/>
        </p:spPr>
        <p:txBody>
          <a:bodyPr wrap="none" lIns="0" tIns="0" rIns="0" bIns="0" rtlCol="0" anchor="t"/>
          <a:lstStyle/>
          <a:p>
            <a:pPr marL="0" indent="0" algn="l">
              <a:lnSpc>
                <a:spcPts val="1800"/>
              </a:lnSpc>
              <a:buNone/>
            </a:pPr>
            <a:r>
              <a:rPr lang="en-US" sz="1150" dirty="0">
                <a:solidFill>
                  <a:srgbClr val="383838"/>
                </a:solidFill>
                <a:latin typeface="DM Sans" pitchFamily="34" charset="0"/>
                <a:ea typeface="DM Sans" pitchFamily="34" charset="-122"/>
                <a:cs typeface="DM Sans" pitchFamily="34" charset="-120"/>
              </a:rPr>
              <a:t>POLICY IMPLICATIONS</a:t>
            </a:r>
            <a:endParaRPr lang="en-US" sz="1150" dirty="0"/>
          </a:p>
        </p:txBody>
      </p:sp>
      <p:sp>
        <p:nvSpPr>
          <p:cNvPr id="5" name="Text 2"/>
          <p:cNvSpPr/>
          <p:nvPr/>
        </p:nvSpPr>
        <p:spPr>
          <a:xfrm>
            <a:off x="730329" y="918329"/>
            <a:ext cx="7536418" cy="599003"/>
          </a:xfrm>
          <a:prstGeom prst="rect">
            <a:avLst/>
          </a:prstGeom>
          <a:noFill/>
          <a:ln/>
        </p:spPr>
        <p:txBody>
          <a:bodyPr wrap="none" lIns="0" tIns="0" rIns="0" bIns="0" rtlCol="0" anchor="t"/>
          <a:lstStyle/>
          <a:p>
            <a:pPr marL="0" indent="0" algn="l">
              <a:lnSpc>
                <a:spcPts val="4700"/>
              </a:lnSpc>
              <a:buNone/>
            </a:pPr>
            <a:r>
              <a:rPr lang="en-US" sz="3750" dirty="0">
                <a:solidFill>
                  <a:srgbClr val="020202"/>
                </a:solidFill>
                <a:latin typeface="PT Serif" pitchFamily="34" charset="0"/>
                <a:ea typeface="PT Serif" pitchFamily="34" charset="-122"/>
                <a:cs typeface="PT Serif" pitchFamily="34" charset="-120"/>
              </a:rPr>
              <a:t>Environmental Justice Applications</a:t>
            </a:r>
            <a:endParaRPr lang="en-US" sz="3750" dirty="0"/>
          </a:p>
        </p:txBody>
      </p:sp>
      <p:sp>
        <p:nvSpPr>
          <p:cNvPr id="6" name="Text 3"/>
          <p:cNvSpPr/>
          <p:nvPr/>
        </p:nvSpPr>
        <p:spPr>
          <a:xfrm>
            <a:off x="730329" y="1791176"/>
            <a:ext cx="13169741" cy="292179"/>
          </a:xfrm>
          <a:prstGeom prst="rect">
            <a:avLst/>
          </a:prstGeom>
          <a:noFill/>
          <a:ln/>
        </p:spPr>
        <p:txBody>
          <a:bodyPr wrap="none" lIns="0" tIns="0" rIns="0" bIns="0" rtlCol="0" anchor="t"/>
          <a:lstStyle/>
          <a:p>
            <a:pPr marL="0" indent="0" algn="l">
              <a:lnSpc>
                <a:spcPts val="2300"/>
              </a:lnSpc>
              <a:buNone/>
            </a:pPr>
            <a:r>
              <a:rPr lang="en-US" sz="1400" dirty="0">
                <a:solidFill>
                  <a:srgbClr val="383838"/>
                </a:solidFill>
                <a:latin typeface="DM Sans" pitchFamily="34" charset="0"/>
                <a:ea typeface="DM Sans" pitchFamily="34" charset="-122"/>
                <a:cs typeface="DM Sans" pitchFamily="34" charset="-120"/>
              </a:rPr>
              <a:t>This work provides actionable insights for Justice40 resource allocation and identifies communities requiring priority intervention.</a:t>
            </a:r>
            <a:endParaRPr lang="en-US" sz="1400" dirty="0"/>
          </a:p>
        </p:txBody>
      </p:sp>
      <p:pic>
        <p:nvPicPr>
          <p:cNvPr id="7" name="Image 1" descr="preencoded.png"/>
          <p:cNvPicPr>
            <a:picLocks noChangeAspect="1"/>
          </p:cNvPicPr>
          <p:nvPr/>
        </p:nvPicPr>
        <p:blipFill>
          <a:blip r:embed="rId5"/>
          <a:stretch>
            <a:fillRect/>
          </a:stretch>
        </p:blipFill>
        <p:spPr>
          <a:xfrm>
            <a:off x="730329" y="2288738"/>
            <a:ext cx="4389834" cy="730329"/>
          </a:xfrm>
          <a:prstGeom prst="rect">
            <a:avLst/>
          </a:prstGeom>
        </p:spPr>
      </p:pic>
      <p:sp>
        <p:nvSpPr>
          <p:cNvPr id="8" name="Text 4"/>
          <p:cNvSpPr/>
          <p:nvPr/>
        </p:nvSpPr>
        <p:spPr>
          <a:xfrm>
            <a:off x="912852" y="3201591"/>
            <a:ext cx="3459004" cy="299561"/>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T Serif" pitchFamily="34" charset="0"/>
                <a:ea typeface="PT Serif" pitchFamily="34" charset="-122"/>
                <a:cs typeface="PT Serif" pitchFamily="34" charset="-120"/>
              </a:rPr>
              <a:t>Identify High-Risk Communities</a:t>
            </a:r>
            <a:endParaRPr lang="en-US" sz="1850" dirty="0"/>
          </a:p>
        </p:txBody>
      </p:sp>
      <p:sp>
        <p:nvSpPr>
          <p:cNvPr id="9" name="Text 5"/>
          <p:cNvSpPr/>
          <p:nvPr/>
        </p:nvSpPr>
        <p:spPr>
          <a:xfrm>
            <a:off x="912852" y="3610689"/>
            <a:ext cx="4024789" cy="876538"/>
          </a:xfrm>
          <a:prstGeom prst="rect">
            <a:avLst/>
          </a:prstGeom>
          <a:noFill/>
          <a:ln/>
        </p:spPr>
        <p:txBody>
          <a:bodyPr wrap="square" lIns="0" tIns="0" rIns="0" bIns="0" rtlCol="0" anchor="t"/>
          <a:lstStyle/>
          <a:p>
            <a:pPr marL="0" indent="0" algn="l">
              <a:lnSpc>
                <a:spcPts val="2300"/>
              </a:lnSpc>
              <a:buNone/>
            </a:pPr>
            <a:r>
              <a:rPr lang="en-US" sz="1400" dirty="0">
                <a:solidFill>
                  <a:srgbClr val="383838"/>
                </a:solidFill>
                <a:latin typeface="DM Sans" pitchFamily="34" charset="0"/>
                <a:ea typeface="DM Sans" pitchFamily="34" charset="-122"/>
                <a:cs typeface="DM Sans" pitchFamily="34" charset="-120"/>
              </a:rPr>
              <a:t>Counties in top quartile of PC1 (cumulative vulnerability) with validated post-2018 outage burden</a:t>
            </a:r>
            <a:endParaRPr lang="en-US" sz="1400" dirty="0"/>
          </a:p>
        </p:txBody>
      </p:sp>
      <p:pic>
        <p:nvPicPr>
          <p:cNvPr id="10" name="Image 2" descr="preencoded.png"/>
          <p:cNvPicPr>
            <a:picLocks noChangeAspect="1"/>
          </p:cNvPicPr>
          <p:nvPr/>
        </p:nvPicPr>
        <p:blipFill>
          <a:blip r:embed="rId6"/>
          <a:stretch>
            <a:fillRect/>
          </a:stretch>
        </p:blipFill>
        <p:spPr>
          <a:xfrm>
            <a:off x="5120164" y="2288738"/>
            <a:ext cx="4389953" cy="730329"/>
          </a:xfrm>
          <a:prstGeom prst="rect">
            <a:avLst/>
          </a:prstGeom>
        </p:spPr>
      </p:pic>
      <p:sp>
        <p:nvSpPr>
          <p:cNvPr id="11" name="Text 6"/>
          <p:cNvSpPr/>
          <p:nvPr/>
        </p:nvSpPr>
        <p:spPr>
          <a:xfrm>
            <a:off x="5302687" y="3201591"/>
            <a:ext cx="2396371" cy="299561"/>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T Serif" pitchFamily="34" charset="0"/>
                <a:ea typeface="PT Serif" pitchFamily="34" charset="-122"/>
                <a:cs typeface="PT Serif" pitchFamily="34" charset="-120"/>
              </a:rPr>
              <a:t>Prioritize Funding</a:t>
            </a:r>
            <a:endParaRPr lang="en-US" sz="1850" dirty="0"/>
          </a:p>
        </p:txBody>
      </p:sp>
      <p:sp>
        <p:nvSpPr>
          <p:cNvPr id="12" name="Text 7"/>
          <p:cNvSpPr/>
          <p:nvPr/>
        </p:nvSpPr>
        <p:spPr>
          <a:xfrm>
            <a:off x="5302687" y="3610689"/>
            <a:ext cx="4024908" cy="876538"/>
          </a:xfrm>
          <a:prstGeom prst="rect">
            <a:avLst/>
          </a:prstGeom>
          <a:noFill/>
          <a:ln/>
        </p:spPr>
        <p:txBody>
          <a:bodyPr wrap="square" lIns="0" tIns="0" rIns="0" bIns="0" rtlCol="0" anchor="t"/>
          <a:lstStyle/>
          <a:p>
            <a:pPr marL="0" indent="0" algn="l">
              <a:lnSpc>
                <a:spcPts val="2300"/>
              </a:lnSpc>
              <a:buNone/>
            </a:pPr>
            <a:r>
              <a:rPr lang="en-US" sz="1400" dirty="0">
                <a:solidFill>
                  <a:srgbClr val="383838"/>
                </a:solidFill>
                <a:latin typeface="DM Sans" pitchFamily="34" charset="0"/>
                <a:ea typeface="DM Sans" pitchFamily="34" charset="-122"/>
                <a:cs typeface="DM Sans" pitchFamily="34" charset="-120"/>
              </a:rPr>
              <a:t>Target communities with high social vulnerability + high climate exposure + infrastructure gaps</a:t>
            </a:r>
            <a:endParaRPr lang="en-US" sz="1400" dirty="0"/>
          </a:p>
        </p:txBody>
      </p:sp>
      <p:pic>
        <p:nvPicPr>
          <p:cNvPr id="13" name="Image 3" descr="preencoded.png"/>
          <p:cNvPicPr>
            <a:picLocks noChangeAspect="1"/>
          </p:cNvPicPr>
          <p:nvPr/>
        </p:nvPicPr>
        <p:blipFill>
          <a:blip r:embed="rId7"/>
          <a:stretch>
            <a:fillRect/>
          </a:stretch>
        </p:blipFill>
        <p:spPr>
          <a:xfrm>
            <a:off x="9510117" y="2288738"/>
            <a:ext cx="4389953" cy="730329"/>
          </a:xfrm>
          <a:prstGeom prst="rect">
            <a:avLst/>
          </a:prstGeom>
        </p:spPr>
      </p:pic>
      <p:sp>
        <p:nvSpPr>
          <p:cNvPr id="14" name="Text 8"/>
          <p:cNvSpPr/>
          <p:nvPr/>
        </p:nvSpPr>
        <p:spPr>
          <a:xfrm>
            <a:off x="9692640" y="3201591"/>
            <a:ext cx="2396371" cy="299561"/>
          </a:xfrm>
          <a:prstGeom prst="rect">
            <a:avLst/>
          </a:prstGeom>
          <a:noFill/>
          <a:ln/>
        </p:spPr>
        <p:txBody>
          <a:bodyPr wrap="none" lIns="0" tIns="0" rIns="0" bIns="0" rtlCol="0" anchor="t"/>
          <a:lstStyle/>
          <a:p>
            <a:pPr marL="0" indent="0" algn="l">
              <a:lnSpc>
                <a:spcPts val="2350"/>
              </a:lnSpc>
              <a:buNone/>
            </a:pPr>
            <a:r>
              <a:rPr lang="en-US" sz="1850" dirty="0">
                <a:solidFill>
                  <a:srgbClr val="383838"/>
                </a:solidFill>
                <a:latin typeface="PT Serif" pitchFamily="34" charset="0"/>
                <a:ea typeface="PT Serif" pitchFamily="34" charset="-122"/>
                <a:cs typeface="PT Serif" pitchFamily="34" charset="-120"/>
              </a:rPr>
              <a:t>Deploy Interventions</a:t>
            </a:r>
            <a:endParaRPr lang="en-US" sz="1850" dirty="0"/>
          </a:p>
        </p:txBody>
      </p:sp>
      <p:sp>
        <p:nvSpPr>
          <p:cNvPr id="15" name="Text 9"/>
          <p:cNvSpPr/>
          <p:nvPr/>
        </p:nvSpPr>
        <p:spPr>
          <a:xfrm>
            <a:off x="9692640" y="3610689"/>
            <a:ext cx="4024908" cy="876538"/>
          </a:xfrm>
          <a:prstGeom prst="rect">
            <a:avLst/>
          </a:prstGeom>
          <a:noFill/>
          <a:ln/>
        </p:spPr>
        <p:txBody>
          <a:bodyPr wrap="square" lIns="0" tIns="0" rIns="0" bIns="0" rtlCol="0" anchor="t"/>
          <a:lstStyle/>
          <a:p>
            <a:pPr marL="0" indent="0" algn="l">
              <a:lnSpc>
                <a:spcPts val="2300"/>
              </a:lnSpc>
              <a:buNone/>
            </a:pPr>
            <a:r>
              <a:rPr lang="en-US" sz="1400" dirty="0">
                <a:solidFill>
                  <a:srgbClr val="383838"/>
                </a:solidFill>
                <a:latin typeface="DM Sans" pitchFamily="34" charset="0"/>
                <a:ea typeface="DM Sans" pitchFamily="34" charset="-122"/>
                <a:cs typeface="DM Sans" pitchFamily="34" charset="-120"/>
              </a:rPr>
              <a:t>Cooling center expansion, heat-resilient infrastructure, and vulnerable population outreach</a:t>
            </a:r>
            <a:endParaRPr lang="en-US" sz="1400" dirty="0"/>
          </a:p>
        </p:txBody>
      </p:sp>
      <p:sp>
        <p:nvSpPr>
          <p:cNvPr id="16" name="Text 10"/>
          <p:cNvSpPr/>
          <p:nvPr/>
        </p:nvSpPr>
        <p:spPr>
          <a:xfrm>
            <a:off x="730329" y="4943594"/>
            <a:ext cx="5778818" cy="479227"/>
          </a:xfrm>
          <a:prstGeom prst="rect">
            <a:avLst/>
          </a:prstGeom>
          <a:noFill/>
          <a:ln/>
        </p:spPr>
        <p:txBody>
          <a:bodyPr wrap="none" lIns="0" tIns="0" rIns="0" bIns="0" rtlCol="0" anchor="t"/>
          <a:lstStyle/>
          <a:p>
            <a:pPr marL="0" indent="0" algn="l">
              <a:lnSpc>
                <a:spcPts val="3750"/>
              </a:lnSpc>
              <a:buNone/>
            </a:pPr>
            <a:r>
              <a:rPr lang="en-US" sz="3000" dirty="0">
                <a:solidFill>
                  <a:srgbClr val="020202"/>
                </a:solidFill>
                <a:latin typeface="PT Serif" pitchFamily="34" charset="0"/>
                <a:ea typeface="PT Serif" pitchFamily="34" charset="-122"/>
                <a:cs typeface="PT Serif" pitchFamily="34" charset="-120"/>
              </a:rPr>
              <a:t>Geographic Vulnerability Patterns</a:t>
            </a:r>
            <a:endParaRPr lang="en-US" sz="3000" dirty="0"/>
          </a:p>
        </p:txBody>
      </p:sp>
      <p:sp>
        <p:nvSpPr>
          <p:cNvPr id="17" name="Text 11"/>
          <p:cNvSpPr/>
          <p:nvPr/>
        </p:nvSpPr>
        <p:spPr>
          <a:xfrm>
            <a:off x="730329" y="5879187"/>
            <a:ext cx="2954893" cy="299561"/>
          </a:xfrm>
          <a:prstGeom prst="rect">
            <a:avLst/>
          </a:prstGeom>
          <a:noFill/>
          <a:ln/>
        </p:spPr>
        <p:txBody>
          <a:bodyPr wrap="none" lIns="0" tIns="0" rIns="0" bIns="0" rtlCol="0" anchor="t"/>
          <a:lstStyle/>
          <a:p>
            <a:pPr marL="0" indent="0" algn="l">
              <a:lnSpc>
                <a:spcPts val="2350"/>
              </a:lnSpc>
              <a:buNone/>
            </a:pPr>
            <a:r>
              <a:rPr lang="en-US" sz="1850" dirty="0">
                <a:solidFill>
                  <a:srgbClr val="020202"/>
                </a:solidFill>
                <a:latin typeface="PT Serif" pitchFamily="34" charset="0"/>
                <a:ea typeface="PT Serif" pitchFamily="34" charset="-122"/>
                <a:cs typeface="PT Serif" pitchFamily="34" charset="-120"/>
              </a:rPr>
              <a:t>High Vulnerability Counties</a:t>
            </a:r>
            <a:endParaRPr lang="en-US" sz="1850" dirty="0"/>
          </a:p>
        </p:txBody>
      </p:sp>
      <p:sp>
        <p:nvSpPr>
          <p:cNvPr id="18" name="Text 12"/>
          <p:cNvSpPr/>
          <p:nvPr/>
        </p:nvSpPr>
        <p:spPr>
          <a:xfrm>
            <a:off x="730329" y="6361271"/>
            <a:ext cx="6362224" cy="292179"/>
          </a:xfrm>
          <a:prstGeom prst="rect">
            <a:avLst/>
          </a:prstGeom>
          <a:noFill/>
          <a:ln/>
        </p:spPr>
        <p:txBody>
          <a:bodyPr wrap="none" lIns="0" tIns="0" rIns="0" bIns="0" rtlCol="0" anchor="t"/>
          <a:lstStyle/>
          <a:p>
            <a:pPr marL="0" indent="0" algn="l">
              <a:lnSpc>
                <a:spcPts val="2300"/>
              </a:lnSpc>
              <a:buNone/>
            </a:pPr>
            <a:r>
              <a:rPr lang="en-US" sz="1400" b="1" dirty="0">
                <a:solidFill>
                  <a:srgbClr val="383838"/>
                </a:solidFill>
                <a:latin typeface="DM Sans" pitchFamily="34" charset="0"/>
                <a:ea typeface="DM Sans" pitchFamily="34" charset="-122"/>
                <a:cs typeface="DM Sans" pitchFamily="34" charset="-120"/>
              </a:rPr>
              <a:t>Central Valley Agricultural:</a:t>
            </a:r>
            <a:r>
              <a:rPr lang="en-US" sz="1400" dirty="0">
                <a:solidFill>
                  <a:srgbClr val="383838"/>
                </a:solidFill>
                <a:latin typeface="DM Sans" pitchFamily="34" charset="0"/>
                <a:ea typeface="DM Sans" pitchFamily="34" charset="-122"/>
                <a:cs typeface="DM Sans" pitchFamily="34" charset="-120"/>
              </a:rPr>
              <a:t> Imperial, Fresno, Kern</a:t>
            </a:r>
            <a:endParaRPr lang="en-US" sz="1400" dirty="0"/>
          </a:p>
        </p:txBody>
      </p:sp>
      <p:sp>
        <p:nvSpPr>
          <p:cNvPr id="19" name="Text 13"/>
          <p:cNvSpPr/>
          <p:nvPr/>
        </p:nvSpPr>
        <p:spPr>
          <a:xfrm>
            <a:off x="730329" y="6817757"/>
            <a:ext cx="6362224" cy="292179"/>
          </a:xfrm>
          <a:prstGeom prst="rect">
            <a:avLst/>
          </a:prstGeom>
          <a:noFill/>
          <a:ln/>
        </p:spPr>
        <p:txBody>
          <a:bodyPr wrap="none" lIns="0" tIns="0" rIns="0" bIns="0" rtlCol="0" anchor="t"/>
          <a:lstStyle/>
          <a:p>
            <a:pPr marL="0" indent="0" algn="l">
              <a:lnSpc>
                <a:spcPts val="2300"/>
              </a:lnSpc>
              <a:buNone/>
            </a:pPr>
            <a:r>
              <a:rPr lang="en-US" sz="1400" b="1" dirty="0">
                <a:solidFill>
                  <a:srgbClr val="383838"/>
                </a:solidFill>
                <a:latin typeface="DM Sans" pitchFamily="34" charset="0"/>
                <a:ea typeface="DM Sans" pitchFamily="34" charset="-122"/>
                <a:cs typeface="DM Sans" pitchFamily="34" charset="-120"/>
              </a:rPr>
              <a:t>Inland Southern California:</a:t>
            </a:r>
            <a:r>
              <a:rPr lang="en-US" sz="1400" dirty="0">
                <a:solidFill>
                  <a:srgbClr val="383838"/>
                </a:solidFill>
                <a:latin typeface="DM Sans" pitchFamily="34" charset="0"/>
                <a:ea typeface="DM Sans" pitchFamily="34" charset="-122"/>
                <a:cs typeface="DM Sans" pitchFamily="34" charset="-120"/>
              </a:rPr>
              <a:t> Riverside, San Bernardino</a:t>
            </a:r>
            <a:endParaRPr lang="en-US" sz="1400" dirty="0"/>
          </a:p>
        </p:txBody>
      </p:sp>
      <p:sp>
        <p:nvSpPr>
          <p:cNvPr id="20" name="Text 14"/>
          <p:cNvSpPr/>
          <p:nvPr/>
        </p:nvSpPr>
        <p:spPr>
          <a:xfrm>
            <a:off x="730329" y="7274243"/>
            <a:ext cx="6362224" cy="292179"/>
          </a:xfrm>
          <a:prstGeom prst="rect">
            <a:avLst/>
          </a:prstGeom>
          <a:noFill/>
          <a:ln/>
        </p:spPr>
        <p:txBody>
          <a:bodyPr wrap="none" lIns="0" tIns="0" rIns="0" bIns="0" rtlCol="0" anchor="t"/>
          <a:lstStyle/>
          <a:p>
            <a:pPr marL="0" indent="0" algn="l">
              <a:lnSpc>
                <a:spcPts val="2300"/>
              </a:lnSpc>
              <a:buNone/>
            </a:pPr>
            <a:r>
              <a:rPr lang="en-US" sz="1400" b="1" dirty="0">
                <a:solidFill>
                  <a:srgbClr val="383838"/>
                </a:solidFill>
                <a:latin typeface="DM Sans" pitchFamily="34" charset="0"/>
                <a:ea typeface="DM Sans" pitchFamily="34" charset="-122"/>
                <a:cs typeface="DM Sans" pitchFamily="34" charset="-120"/>
              </a:rPr>
              <a:t>Northern Rural:</a:t>
            </a:r>
            <a:r>
              <a:rPr lang="en-US" sz="1400" dirty="0">
                <a:solidFill>
                  <a:srgbClr val="383838"/>
                </a:solidFill>
                <a:latin typeface="DM Sans" pitchFamily="34" charset="0"/>
                <a:ea typeface="DM Sans" pitchFamily="34" charset="-122"/>
                <a:cs typeface="DM Sans" pitchFamily="34" charset="-120"/>
              </a:rPr>
              <a:t> Limited infrastructure counties</a:t>
            </a:r>
            <a:endParaRPr lang="en-US" sz="1400" dirty="0"/>
          </a:p>
        </p:txBody>
      </p:sp>
      <p:sp>
        <p:nvSpPr>
          <p:cNvPr id="21" name="Text 15"/>
          <p:cNvSpPr/>
          <p:nvPr/>
        </p:nvSpPr>
        <p:spPr>
          <a:xfrm>
            <a:off x="7545467" y="5879187"/>
            <a:ext cx="2877383" cy="299561"/>
          </a:xfrm>
          <a:prstGeom prst="rect">
            <a:avLst/>
          </a:prstGeom>
          <a:noFill/>
          <a:ln/>
        </p:spPr>
        <p:txBody>
          <a:bodyPr wrap="none" lIns="0" tIns="0" rIns="0" bIns="0" rtlCol="0" anchor="t"/>
          <a:lstStyle/>
          <a:p>
            <a:pPr marL="0" indent="0" algn="l">
              <a:lnSpc>
                <a:spcPts val="2350"/>
              </a:lnSpc>
              <a:buNone/>
            </a:pPr>
            <a:r>
              <a:rPr lang="en-US" sz="1850" dirty="0">
                <a:solidFill>
                  <a:srgbClr val="020202"/>
                </a:solidFill>
                <a:latin typeface="PT Serif" pitchFamily="34" charset="0"/>
                <a:ea typeface="PT Serif" pitchFamily="34" charset="-122"/>
                <a:cs typeface="PT Serif" pitchFamily="34" charset="-120"/>
              </a:rPr>
              <a:t>Low Vulnerability Counties</a:t>
            </a:r>
            <a:endParaRPr lang="en-US" sz="1850" dirty="0"/>
          </a:p>
        </p:txBody>
      </p:sp>
      <p:sp>
        <p:nvSpPr>
          <p:cNvPr id="22" name="Text 16"/>
          <p:cNvSpPr/>
          <p:nvPr/>
        </p:nvSpPr>
        <p:spPr>
          <a:xfrm>
            <a:off x="7545467" y="6361271"/>
            <a:ext cx="6362224" cy="292179"/>
          </a:xfrm>
          <a:prstGeom prst="rect">
            <a:avLst/>
          </a:prstGeom>
          <a:noFill/>
          <a:ln/>
        </p:spPr>
        <p:txBody>
          <a:bodyPr wrap="none" lIns="0" tIns="0" rIns="0" bIns="0" rtlCol="0" anchor="t"/>
          <a:lstStyle/>
          <a:p>
            <a:pPr marL="0" indent="0" algn="l">
              <a:lnSpc>
                <a:spcPts val="2300"/>
              </a:lnSpc>
              <a:buNone/>
            </a:pPr>
            <a:r>
              <a:rPr lang="en-US" sz="1400" b="1" dirty="0">
                <a:solidFill>
                  <a:srgbClr val="383838"/>
                </a:solidFill>
                <a:latin typeface="DM Sans" pitchFamily="34" charset="0"/>
                <a:ea typeface="DM Sans" pitchFamily="34" charset="-122"/>
                <a:cs typeface="DM Sans" pitchFamily="34" charset="-120"/>
              </a:rPr>
              <a:t>Coastal Urban:</a:t>
            </a:r>
            <a:r>
              <a:rPr lang="en-US" sz="1400" dirty="0">
                <a:solidFill>
                  <a:srgbClr val="383838"/>
                </a:solidFill>
                <a:latin typeface="DM Sans" pitchFamily="34" charset="0"/>
                <a:ea typeface="DM Sans" pitchFamily="34" charset="-122"/>
                <a:cs typeface="DM Sans" pitchFamily="34" charset="-120"/>
              </a:rPr>
              <a:t> San Francisco, San Mateo, Marin</a:t>
            </a:r>
            <a:endParaRPr lang="en-US" sz="1400" dirty="0"/>
          </a:p>
        </p:txBody>
      </p:sp>
      <p:sp>
        <p:nvSpPr>
          <p:cNvPr id="23" name="Text 17"/>
          <p:cNvSpPr/>
          <p:nvPr/>
        </p:nvSpPr>
        <p:spPr>
          <a:xfrm>
            <a:off x="7545467" y="6817757"/>
            <a:ext cx="6362224" cy="292179"/>
          </a:xfrm>
          <a:prstGeom prst="rect">
            <a:avLst/>
          </a:prstGeom>
          <a:noFill/>
          <a:ln/>
        </p:spPr>
        <p:txBody>
          <a:bodyPr wrap="none" lIns="0" tIns="0" rIns="0" bIns="0" rtlCol="0" anchor="t"/>
          <a:lstStyle/>
          <a:p>
            <a:pPr marL="0" indent="0" algn="l">
              <a:lnSpc>
                <a:spcPts val="2300"/>
              </a:lnSpc>
              <a:buNone/>
            </a:pPr>
            <a:r>
              <a:rPr lang="en-US" sz="1400" b="1" dirty="0">
                <a:solidFill>
                  <a:srgbClr val="383838"/>
                </a:solidFill>
                <a:latin typeface="DM Sans" pitchFamily="34" charset="0"/>
                <a:ea typeface="DM Sans" pitchFamily="34" charset="-122"/>
                <a:cs typeface="DM Sans" pitchFamily="34" charset="-120"/>
              </a:rPr>
              <a:t>High-Income Suburban:</a:t>
            </a:r>
            <a:r>
              <a:rPr lang="en-US" sz="1400" dirty="0">
                <a:solidFill>
                  <a:srgbClr val="383838"/>
                </a:solidFill>
                <a:latin typeface="DM Sans" pitchFamily="34" charset="0"/>
                <a:ea typeface="DM Sans" pitchFamily="34" charset="-122"/>
                <a:cs typeface="DM Sans" pitchFamily="34" charset="-120"/>
              </a:rPr>
              <a:t> Santa Clara, Orange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57357" y="520660"/>
            <a:ext cx="1516142" cy="371118"/>
          </a:xfrm>
          <a:prstGeom prst="roundRect">
            <a:avLst>
              <a:gd name="adj" fmla="val 6123"/>
            </a:avLst>
          </a:prstGeom>
          <a:noFill/>
          <a:ln w="7620">
            <a:solidFill>
              <a:srgbClr val="E04F00"/>
            </a:solidFill>
            <a:prstDash val="solid"/>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8562" y="630436"/>
            <a:ext cx="151448" cy="151448"/>
          </a:xfrm>
          <a:prstGeom prst="rect">
            <a:avLst/>
          </a:prstGeom>
        </p:spPr>
      </p:pic>
      <p:sp>
        <p:nvSpPr>
          <p:cNvPr id="4" name="Text 1"/>
          <p:cNvSpPr/>
          <p:nvPr/>
        </p:nvSpPr>
        <p:spPr>
          <a:xfrm>
            <a:off x="1105733" y="585073"/>
            <a:ext cx="1046559" cy="242292"/>
          </a:xfrm>
          <a:prstGeom prst="rect">
            <a:avLst/>
          </a:prstGeom>
          <a:noFill/>
          <a:ln/>
        </p:spPr>
        <p:txBody>
          <a:bodyPr wrap="none" lIns="0" tIns="0" rIns="0" bIns="0" rtlCol="0" anchor="t"/>
          <a:lstStyle/>
          <a:p>
            <a:pPr marL="0" indent="0" algn="l">
              <a:lnSpc>
                <a:spcPts val="1900"/>
              </a:lnSpc>
              <a:buNone/>
            </a:pPr>
            <a:r>
              <a:rPr lang="en-US" sz="1150" dirty="0">
                <a:solidFill>
                  <a:srgbClr val="E04F00"/>
                </a:solidFill>
                <a:latin typeface="DM Sans" pitchFamily="34" charset="0"/>
                <a:ea typeface="DM Sans" pitchFamily="34" charset="-122"/>
                <a:cs typeface="DM Sans" pitchFamily="34" charset="-120"/>
              </a:rPr>
              <a:t>CONCLUSIONS</a:t>
            </a:r>
            <a:endParaRPr lang="en-US" sz="1150" dirty="0"/>
          </a:p>
        </p:txBody>
      </p:sp>
      <p:sp>
        <p:nvSpPr>
          <p:cNvPr id="5" name="Text 2"/>
          <p:cNvSpPr/>
          <p:nvPr/>
        </p:nvSpPr>
        <p:spPr>
          <a:xfrm>
            <a:off x="757357" y="967502"/>
            <a:ext cx="9046369" cy="621268"/>
          </a:xfrm>
          <a:prstGeom prst="rect">
            <a:avLst/>
          </a:prstGeom>
          <a:noFill/>
          <a:ln/>
        </p:spPr>
        <p:txBody>
          <a:bodyPr wrap="none" lIns="0" tIns="0" rIns="0" bIns="0" rtlCol="0" anchor="t"/>
          <a:lstStyle/>
          <a:p>
            <a:pPr marL="0" indent="0" algn="l">
              <a:lnSpc>
                <a:spcPts val="4850"/>
              </a:lnSpc>
              <a:buNone/>
            </a:pPr>
            <a:r>
              <a:rPr lang="en-US" sz="3900" dirty="0">
                <a:solidFill>
                  <a:srgbClr val="020202"/>
                </a:solidFill>
                <a:latin typeface="PT Serif" pitchFamily="34" charset="0"/>
                <a:ea typeface="PT Serif" pitchFamily="34" charset="-122"/>
                <a:cs typeface="PT Serif" pitchFamily="34" charset="-120"/>
              </a:rPr>
              <a:t>Future Directions and Recommendations</a:t>
            </a:r>
            <a:endParaRPr lang="en-US" sz="3900" dirty="0"/>
          </a:p>
        </p:txBody>
      </p:sp>
      <p:sp>
        <p:nvSpPr>
          <p:cNvPr id="6" name="Text 3"/>
          <p:cNvSpPr/>
          <p:nvPr/>
        </p:nvSpPr>
        <p:spPr>
          <a:xfrm>
            <a:off x="757357" y="1872734"/>
            <a:ext cx="189309" cy="236696"/>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PT Serif Light" pitchFamily="34" charset="0"/>
                <a:ea typeface="PT Serif Light" pitchFamily="34" charset="-122"/>
                <a:cs typeface="PT Serif Light" pitchFamily="34" charset="-120"/>
              </a:rPr>
              <a:t>01</a:t>
            </a:r>
            <a:endParaRPr lang="en-US" sz="1450" dirty="0"/>
          </a:p>
        </p:txBody>
      </p:sp>
      <p:sp>
        <p:nvSpPr>
          <p:cNvPr id="7" name="Shape 4"/>
          <p:cNvSpPr/>
          <p:nvPr/>
        </p:nvSpPr>
        <p:spPr>
          <a:xfrm>
            <a:off x="757357" y="2171700"/>
            <a:ext cx="4245650" cy="22860"/>
          </a:xfrm>
          <a:prstGeom prst="rect">
            <a:avLst/>
          </a:prstGeom>
          <a:solidFill>
            <a:srgbClr val="E04F00"/>
          </a:solidFill>
          <a:ln/>
        </p:spPr>
        <p:txBody>
          <a:bodyPr/>
          <a:lstStyle/>
          <a:p>
            <a:endParaRPr lang="en-US"/>
          </a:p>
        </p:txBody>
      </p:sp>
      <p:sp>
        <p:nvSpPr>
          <p:cNvPr id="8" name="Text 5"/>
          <p:cNvSpPr/>
          <p:nvPr/>
        </p:nvSpPr>
        <p:spPr>
          <a:xfrm>
            <a:off x="757357" y="2312075"/>
            <a:ext cx="2485311" cy="310515"/>
          </a:xfrm>
          <a:prstGeom prst="rect">
            <a:avLst/>
          </a:prstGeom>
          <a:noFill/>
          <a:ln/>
        </p:spPr>
        <p:txBody>
          <a:bodyPr wrap="none" lIns="0" tIns="0" rIns="0" bIns="0" rtlCol="0" anchor="t"/>
          <a:lstStyle/>
          <a:p>
            <a:pPr marL="0" indent="0" algn="l">
              <a:lnSpc>
                <a:spcPts val="2400"/>
              </a:lnSpc>
              <a:buNone/>
            </a:pPr>
            <a:r>
              <a:rPr lang="en-US" sz="1950" dirty="0">
                <a:solidFill>
                  <a:srgbClr val="383838"/>
                </a:solidFill>
                <a:latin typeface="PT Serif" pitchFamily="34" charset="0"/>
                <a:ea typeface="PT Serif" pitchFamily="34" charset="-122"/>
                <a:cs typeface="PT Serif" pitchFamily="34" charset="-120"/>
              </a:rPr>
              <a:t>Expand Predictor Set</a:t>
            </a:r>
            <a:endParaRPr lang="en-US" sz="1950" dirty="0"/>
          </a:p>
        </p:txBody>
      </p:sp>
      <p:sp>
        <p:nvSpPr>
          <p:cNvPr id="9" name="Text 6"/>
          <p:cNvSpPr/>
          <p:nvPr/>
        </p:nvSpPr>
        <p:spPr>
          <a:xfrm>
            <a:off x="757357" y="2736175"/>
            <a:ext cx="4245650" cy="605790"/>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Add healthcare access, real-time weather data, and adaptation infrastructure variables</a:t>
            </a:r>
            <a:endParaRPr lang="en-US" sz="1450" dirty="0"/>
          </a:p>
        </p:txBody>
      </p:sp>
      <p:sp>
        <p:nvSpPr>
          <p:cNvPr id="10" name="Text 7"/>
          <p:cNvSpPr/>
          <p:nvPr/>
        </p:nvSpPr>
        <p:spPr>
          <a:xfrm>
            <a:off x="5192316" y="1872734"/>
            <a:ext cx="189309" cy="236696"/>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PT Serif Light" pitchFamily="34" charset="0"/>
                <a:ea typeface="PT Serif Light" pitchFamily="34" charset="-122"/>
                <a:cs typeface="PT Serif Light" pitchFamily="34" charset="-120"/>
              </a:rPr>
              <a:t>02</a:t>
            </a:r>
            <a:endParaRPr lang="en-US" sz="1450" dirty="0"/>
          </a:p>
        </p:txBody>
      </p:sp>
      <p:sp>
        <p:nvSpPr>
          <p:cNvPr id="11" name="Shape 8"/>
          <p:cNvSpPr/>
          <p:nvPr/>
        </p:nvSpPr>
        <p:spPr>
          <a:xfrm>
            <a:off x="5192316" y="2171700"/>
            <a:ext cx="4245650" cy="22860"/>
          </a:xfrm>
          <a:prstGeom prst="rect">
            <a:avLst/>
          </a:prstGeom>
          <a:solidFill>
            <a:srgbClr val="E04F00"/>
          </a:solidFill>
          <a:ln/>
        </p:spPr>
        <p:txBody>
          <a:bodyPr/>
          <a:lstStyle/>
          <a:p>
            <a:endParaRPr lang="en-US"/>
          </a:p>
        </p:txBody>
      </p:sp>
      <p:sp>
        <p:nvSpPr>
          <p:cNvPr id="12" name="Text 9"/>
          <p:cNvSpPr/>
          <p:nvPr/>
        </p:nvSpPr>
        <p:spPr>
          <a:xfrm>
            <a:off x="5192316" y="2312075"/>
            <a:ext cx="3294459" cy="310515"/>
          </a:xfrm>
          <a:prstGeom prst="rect">
            <a:avLst/>
          </a:prstGeom>
          <a:noFill/>
          <a:ln/>
        </p:spPr>
        <p:txBody>
          <a:bodyPr wrap="none" lIns="0" tIns="0" rIns="0" bIns="0" rtlCol="0" anchor="t"/>
          <a:lstStyle/>
          <a:p>
            <a:pPr marL="0" indent="0" algn="l">
              <a:lnSpc>
                <a:spcPts val="2400"/>
              </a:lnSpc>
              <a:buNone/>
            </a:pPr>
            <a:r>
              <a:rPr lang="en-US" sz="1950" dirty="0">
                <a:solidFill>
                  <a:srgbClr val="383838"/>
                </a:solidFill>
                <a:latin typeface="PT Serif" pitchFamily="34" charset="0"/>
                <a:ea typeface="PT Serif" pitchFamily="34" charset="-122"/>
                <a:cs typeface="PT Serif" pitchFamily="34" charset="-120"/>
              </a:rPr>
              <a:t>Increase Temporal Resolution</a:t>
            </a:r>
            <a:endParaRPr lang="en-US" sz="1950" dirty="0"/>
          </a:p>
        </p:txBody>
      </p:sp>
      <p:sp>
        <p:nvSpPr>
          <p:cNvPr id="13" name="Text 10"/>
          <p:cNvSpPr/>
          <p:nvPr/>
        </p:nvSpPr>
        <p:spPr>
          <a:xfrm>
            <a:off x="5192316" y="2736175"/>
            <a:ext cx="4245650" cy="605790"/>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Collect 10+ years of monthly/weekly data for robust LSTM training and trend analysis</a:t>
            </a:r>
            <a:endParaRPr lang="en-US" sz="1450" dirty="0"/>
          </a:p>
        </p:txBody>
      </p:sp>
      <p:sp>
        <p:nvSpPr>
          <p:cNvPr id="14" name="Text 11"/>
          <p:cNvSpPr/>
          <p:nvPr/>
        </p:nvSpPr>
        <p:spPr>
          <a:xfrm>
            <a:off x="9627275" y="1872734"/>
            <a:ext cx="189309" cy="236696"/>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PT Serif Light" pitchFamily="34" charset="0"/>
                <a:ea typeface="PT Serif Light" pitchFamily="34" charset="-122"/>
                <a:cs typeface="PT Serif Light" pitchFamily="34" charset="-120"/>
              </a:rPr>
              <a:t>03</a:t>
            </a:r>
            <a:endParaRPr lang="en-US" sz="1450" dirty="0"/>
          </a:p>
        </p:txBody>
      </p:sp>
      <p:sp>
        <p:nvSpPr>
          <p:cNvPr id="15" name="Shape 12"/>
          <p:cNvSpPr/>
          <p:nvPr/>
        </p:nvSpPr>
        <p:spPr>
          <a:xfrm>
            <a:off x="9627275" y="2171700"/>
            <a:ext cx="4245650" cy="22860"/>
          </a:xfrm>
          <a:prstGeom prst="rect">
            <a:avLst/>
          </a:prstGeom>
          <a:solidFill>
            <a:srgbClr val="E04F00"/>
          </a:solidFill>
          <a:ln/>
        </p:spPr>
        <p:txBody>
          <a:bodyPr/>
          <a:lstStyle/>
          <a:p>
            <a:endParaRPr lang="en-US"/>
          </a:p>
        </p:txBody>
      </p:sp>
      <p:sp>
        <p:nvSpPr>
          <p:cNvPr id="16" name="Text 13"/>
          <p:cNvSpPr/>
          <p:nvPr/>
        </p:nvSpPr>
        <p:spPr>
          <a:xfrm>
            <a:off x="9627275" y="2312075"/>
            <a:ext cx="2485311" cy="310515"/>
          </a:xfrm>
          <a:prstGeom prst="rect">
            <a:avLst/>
          </a:prstGeom>
          <a:noFill/>
          <a:ln/>
        </p:spPr>
        <p:txBody>
          <a:bodyPr wrap="none" lIns="0" tIns="0" rIns="0" bIns="0" rtlCol="0" anchor="t"/>
          <a:lstStyle/>
          <a:p>
            <a:pPr marL="0" indent="0" algn="l">
              <a:lnSpc>
                <a:spcPts val="2400"/>
              </a:lnSpc>
              <a:buNone/>
            </a:pPr>
            <a:r>
              <a:rPr lang="en-US" sz="1950" dirty="0">
                <a:solidFill>
                  <a:srgbClr val="383838"/>
                </a:solidFill>
                <a:latin typeface="PT Serif" pitchFamily="34" charset="0"/>
                <a:ea typeface="PT Serif" pitchFamily="34" charset="-122"/>
                <a:cs typeface="PT Serif" pitchFamily="34" charset="-120"/>
              </a:rPr>
              <a:t>Spatial Downscaling</a:t>
            </a:r>
            <a:endParaRPr lang="en-US" sz="1950" dirty="0"/>
          </a:p>
        </p:txBody>
      </p:sp>
      <p:sp>
        <p:nvSpPr>
          <p:cNvPr id="17" name="Text 14"/>
          <p:cNvSpPr/>
          <p:nvPr/>
        </p:nvSpPr>
        <p:spPr>
          <a:xfrm>
            <a:off x="9627275" y="2736175"/>
            <a:ext cx="4245650" cy="605790"/>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Move from county to census tract level for precision equity analysis</a:t>
            </a:r>
            <a:endParaRPr lang="en-US" sz="1450" dirty="0"/>
          </a:p>
        </p:txBody>
      </p:sp>
      <p:sp>
        <p:nvSpPr>
          <p:cNvPr id="18" name="Text 15"/>
          <p:cNvSpPr/>
          <p:nvPr/>
        </p:nvSpPr>
        <p:spPr>
          <a:xfrm>
            <a:off x="757357" y="3673197"/>
            <a:ext cx="189309" cy="236696"/>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PT Serif Light" pitchFamily="34" charset="0"/>
                <a:ea typeface="PT Serif Light" pitchFamily="34" charset="-122"/>
                <a:cs typeface="PT Serif Light" pitchFamily="34" charset="-120"/>
              </a:rPr>
              <a:t>04</a:t>
            </a:r>
            <a:endParaRPr lang="en-US" sz="1450" dirty="0"/>
          </a:p>
        </p:txBody>
      </p:sp>
      <p:sp>
        <p:nvSpPr>
          <p:cNvPr id="19" name="Shape 16"/>
          <p:cNvSpPr/>
          <p:nvPr/>
        </p:nvSpPr>
        <p:spPr>
          <a:xfrm>
            <a:off x="757357" y="3972163"/>
            <a:ext cx="6463070" cy="22860"/>
          </a:xfrm>
          <a:prstGeom prst="rect">
            <a:avLst/>
          </a:prstGeom>
          <a:solidFill>
            <a:srgbClr val="E04F00"/>
          </a:solidFill>
          <a:ln/>
        </p:spPr>
        <p:txBody>
          <a:bodyPr/>
          <a:lstStyle/>
          <a:p>
            <a:endParaRPr lang="en-US"/>
          </a:p>
        </p:txBody>
      </p:sp>
      <p:sp>
        <p:nvSpPr>
          <p:cNvPr id="20" name="Text 17"/>
          <p:cNvSpPr/>
          <p:nvPr/>
        </p:nvSpPr>
        <p:spPr>
          <a:xfrm>
            <a:off x="757357" y="4112538"/>
            <a:ext cx="2485311" cy="310515"/>
          </a:xfrm>
          <a:prstGeom prst="rect">
            <a:avLst/>
          </a:prstGeom>
          <a:noFill/>
          <a:ln/>
        </p:spPr>
        <p:txBody>
          <a:bodyPr wrap="none" lIns="0" tIns="0" rIns="0" bIns="0" rtlCol="0" anchor="t"/>
          <a:lstStyle/>
          <a:p>
            <a:pPr marL="0" indent="0" algn="l">
              <a:lnSpc>
                <a:spcPts val="2400"/>
              </a:lnSpc>
              <a:buNone/>
            </a:pPr>
            <a:r>
              <a:rPr lang="en-US" sz="1950" dirty="0">
                <a:solidFill>
                  <a:srgbClr val="383838"/>
                </a:solidFill>
                <a:latin typeface="PT Serif" pitchFamily="34" charset="0"/>
                <a:ea typeface="PT Serif" pitchFamily="34" charset="-122"/>
                <a:cs typeface="PT Serif" pitchFamily="34" charset="-120"/>
              </a:rPr>
              <a:t>Hybrid Modeling</a:t>
            </a:r>
            <a:endParaRPr lang="en-US" sz="1950" dirty="0"/>
          </a:p>
        </p:txBody>
      </p:sp>
      <p:sp>
        <p:nvSpPr>
          <p:cNvPr id="21" name="Text 18"/>
          <p:cNvSpPr/>
          <p:nvPr/>
        </p:nvSpPr>
        <p:spPr>
          <a:xfrm>
            <a:off x="757357" y="4536638"/>
            <a:ext cx="6463070" cy="605790"/>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Combine PCA-MLP with domain-specific risk models like CDC heat vulnerability index</a:t>
            </a:r>
            <a:endParaRPr lang="en-US" sz="1450" dirty="0"/>
          </a:p>
        </p:txBody>
      </p:sp>
      <p:sp>
        <p:nvSpPr>
          <p:cNvPr id="22" name="Text 19"/>
          <p:cNvSpPr/>
          <p:nvPr/>
        </p:nvSpPr>
        <p:spPr>
          <a:xfrm>
            <a:off x="7409736" y="3673197"/>
            <a:ext cx="189309" cy="236696"/>
          </a:xfrm>
          <a:prstGeom prst="rect">
            <a:avLst/>
          </a:prstGeom>
          <a:noFill/>
          <a:ln/>
        </p:spPr>
        <p:txBody>
          <a:bodyPr wrap="none" lIns="0" tIns="0" rIns="0" bIns="0" rtlCol="0" anchor="t"/>
          <a:lstStyle/>
          <a:p>
            <a:pPr marL="0" indent="0" algn="l">
              <a:lnSpc>
                <a:spcPts val="2350"/>
              </a:lnSpc>
              <a:buNone/>
            </a:pPr>
            <a:r>
              <a:rPr lang="en-US" sz="1450" dirty="0">
                <a:solidFill>
                  <a:srgbClr val="383838"/>
                </a:solidFill>
                <a:latin typeface="PT Serif Light" pitchFamily="34" charset="0"/>
                <a:ea typeface="PT Serif Light" pitchFamily="34" charset="-122"/>
                <a:cs typeface="PT Serif Light" pitchFamily="34" charset="-120"/>
              </a:rPr>
              <a:t>05</a:t>
            </a:r>
            <a:endParaRPr lang="en-US" sz="1450" dirty="0"/>
          </a:p>
        </p:txBody>
      </p:sp>
      <p:sp>
        <p:nvSpPr>
          <p:cNvPr id="23" name="Shape 20"/>
          <p:cNvSpPr/>
          <p:nvPr/>
        </p:nvSpPr>
        <p:spPr>
          <a:xfrm>
            <a:off x="7409736" y="3972163"/>
            <a:ext cx="6463189" cy="22860"/>
          </a:xfrm>
          <a:prstGeom prst="rect">
            <a:avLst/>
          </a:prstGeom>
          <a:solidFill>
            <a:srgbClr val="E04F00"/>
          </a:solidFill>
          <a:ln/>
        </p:spPr>
        <p:txBody>
          <a:bodyPr/>
          <a:lstStyle/>
          <a:p>
            <a:endParaRPr lang="en-US"/>
          </a:p>
        </p:txBody>
      </p:sp>
      <p:sp>
        <p:nvSpPr>
          <p:cNvPr id="24" name="Text 21"/>
          <p:cNvSpPr/>
          <p:nvPr/>
        </p:nvSpPr>
        <p:spPr>
          <a:xfrm>
            <a:off x="7409736" y="4112538"/>
            <a:ext cx="2551271" cy="310515"/>
          </a:xfrm>
          <a:prstGeom prst="rect">
            <a:avLst/>
          </a:prstGeom>
          <a:noFill/>
          <a:ln/>
        </p:spPr>
        <p:txBody>
          <a:bodyPr wrap="none" lIns="0" tIns="0" rIns="0" bIns="0" rtlCol="0" anchor="t"/>
          <a:lstStyle/>
          <a:p>
            <a:pPr marL="0" indent="0" algn="l">
              <a:lnSpc>
                <a:spcPts val="2400"/>
              </a:lnSpc>
              <a:buNone/>
            </a:pPr>
            <a:r>
              <a:rPr lang="en-US" sz="1950" dirty="0">
                <a:solidFill>
                  <a:srgbClr val="383838"/>
                </a:solidFill>
                <a:latin typeface="PT Serif" pitchFamily="34" charset="0"/>
                <a:ea typeface="PT Serif" pitchFamily="34" charset="-122"/>
                <a:cs typeface="PT Serif" pitchFamily="34" charset="-120"/>
              </a:rPr>
              <a:t>Real-Time Deployment</a:t>
            </a:r>
            <a:endParaRPr lang="en-US" sz="1950" dirty="0"/>
          </a:p>
        </p:txBody>
      </p:sp>
      <p:sp>
        <p:nvSpPr>
          <p:cNvPr id="25" name="Text 22"/>
          <p:cNvSpPr/>
          <p:nvPr/>
        </p:nvSpPr>
        <p:spPr>
          <a:xfrm>
            <a:off x="7409736" y="4536638"/>
            <a:ext cx="6463189" cy="605790"/>
          </a:xfrm>
          <a:prstGeom prst="rect">
            <a:avLst/>
          </a:prstGeom>
          <a:noFill/>
          <a:ln/>
        </p:spPr>
        <p:txBody>
          <a:bodyPr wrap="square" lIns="0" tIns="0" rIns="0" bIns="0" rtlCol="0" anchor="t"/>
          <a:lstStyle/>
          <a:p>
            <a:pPr marL="0" indent="0" algn="l">
              <a:lnSpc>
                <a:spcPts val="2350"/>
              </a:lnSpc>
              <a:buNone/>
            </a:pPr>
            <a:r>
              <a:rPr lang="en-US" sz="1450" dirty="0">
                <a:solidFill>
                  <a:srgbClr val="383838"/>
                </a:solidFill>
                <a:latin typeface="DM Sans" pitchFamily="34" charset="0"/>
                <a:ea typeface="DM Sans" pitchFamily="34" charset="-122"/>
                <a:cs typeface="DM Sans" pitchFamily="34" charset="-120"/>
              </a:rPr>
              <a:t>Integrate with NOAA forecasts for operational 7-day heat illness early warning system</a:t>
            </a:r>
            <a:endParaRPr lang="en-US" sz="1450" dirty="0"/>
          </a:p>
        </p:txBody>
      </p:sp>
      <p:sp>
        <p:nvSpPr>
          <p:cNvPr id="26" name="Shape 23"/>
          <p:cNvSpPr/>
          <p:nvPr/>
        </p:nvSpPr>
        <p:spPr>
          <a:xfrm>
            <a:off x="757357" y="5497354"/>
            <a:ext cx="13115687" cy="2213015"/>
          </a:xfrm>
          <a:prstGeom prst="roundRect">
            <a:avLst>
              <a:gd name="adj" fmla="val 1283"/>
            </a:avLst>
          </a:prstGeom>
          <a:solidFill>
            <a:srgbClr val="FFCDB3"/>
          </a:solidFill>
          <a:ln/>
        </p:spPr>
        <p:txBody>
          <a:bodyPr/>
          <a:lstStyle/>
          <a:p>
            <a:endParaRPr lang="en-US"/>
          </a:p>
        </p:txBody>
      </p:sp>
      <p:pic>
        <p:nvPicPr>
          <p:cNvPr id="27" name="Image 1" descr="preencoded.png"/>
          <p:cNvPicPr>
            <a:picLocks noChangeAspect="1"/>
          </p:cNvPicPr>
          <p:nvPr/>
        </p:nvPicPr>
        <p:blipFill>
          <a:blip r:embed="rId5"/>
          <a:stretch>
            <a:fillRect/>
          </a:stretch>
        </p:blipFill>
        <p:spPr>
          <a:xfrm>
            <a:off x="946666" y="5760244"/>
            <a:ext cx="310634" cy="248483"/>
          </a:xfrm>
          <a:prstGeom prst="rect">
            <a:avLst/>
          </a:prstGeom>
        </p:spPr>
      </p:pic>
      <p:sp>
        <p:nvSpPr>
          <p:cNvPr id="28" name="Text 24"/>
          <p:cNvSpPr/>
          <p:nvPr/>
        </p:nvSpPr>
        <p:spPr>
          <a:xfrm>
            <a:off x="1446609" y="5733931"/>
            <a:ext cx="2485311" cy="310515"/>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PT Serif" pitchFamily="34" charset="0"/>
                <a:ea typeface="PT Serif" pitchFamily="34" charset="-122"/>
                <a:cs typeface="PT Serif" pitchFamily="34" charset="-120"/>
              </a:rPr>
              <a:t>Key Takeaway</a:t>
            </a:r>
            <a:endParaRPr lang="en-US" sz="1950" dirty="0"/>
          </a:p>
        </p:txBody>
      </p:sp>
      <p:sp>
        <p:nvSpPr>
          <p:cNvPr id="29" name="Text 25"/>
          <p:cNvSpPr/>
          <p:nvPr/>
        </p:nvSpPr>
        <p:spPr>
          <a:xfrm>
            <a:off x="1446609" y="6233755"/>
            <a:ext cx="12237125" cy="1211580"/>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DM Sans" pitchFamily="34" charset="0"/>
                <a:ea typeface="DM Sans" pitchFamily="34" charset="-122"/>
                <a:cs typeface="DM Sans" pitchFamily="34" charset="-120"/>
              </a:rPr>
              <a:t>While neural networks showed limitations in predictive power (R² &lt; 0), this project successfully validated the cumulative burden approach to environmental justice and established rigorous methodological practices for MNAR data handling. The PCA framework provides actionable vulnerability scores for Justice40 resource allocation, and the identified missing predictors offer clear directions for future research.</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1012</Words>
  <Application>Microsoft Office PowerPoint</Application>
  <PresentationFormat>Custom</PresentationFormat>
  <Paragraphs>176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PT Serif Light</vt:lpstr>
      <vt:lpstr>DM Sans</vt:lpstr>
      <vt:lpstr>PT 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Victoria Franklin</dc:creator>
  <cp:lastModifiedBy>Franklin, Victoria</cp:lastModifiedBy>
  <cp:revision>3</cp:revision>
  <dcterms:created xsi:type="dcterms:W3CDTF">2026-01-07T17:46:31Z</dcterms:created>
  <dcterms:modified xsi:type="dcterms:W3CDTF">2026-01-07T17:52:12Z</dcterms:modified>
</cp:coreProperties>
</file>