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743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59874" y="722114"/>
            <a:ext cx="30242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MSBD566 PREDICTIVE MODELING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98573" y="1251645"/>
            <a:ext cx="45468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Clustering for Climate Justice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13078" y="2470845"/>
            <a:ext cx="331784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spcAft>
                <a:spcPts val="3000"/>
              </a:spcAft>
              <a:buNone/>
            </a:pPr>
            <a:r>
              <a:rPr lang="en-US" sz="1275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Patterns in California's Climate Stress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4191000" y="3230910"/>
            <a:ext cx="762000" cy="28575"/>
          </a:xfrm>
          <a:prstGeom prst="rect">
            <a:avLst/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26032" y="3792885"/>
            <a:ext cx="14919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Love Franklin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9808" y="4234755"/>
            <a:ext cx="15043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Meharry Medical College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6700" y="4781550"/>
            <a:ext cx="750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cs typeface="Arial" pitchFamily="34" charset="-120"/>
              </a:rPr>
              <a:t>Midterm 2025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oundRect">
            <a:avLst>
              <a:gd name="adj" fmla="val 12500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14325"/>
            <a:ext cx="47625" cy="209550"/>
          </a:xfrm>
          <a:prstGeom prst="rect">
            <a:avLst/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1975" y="304800"/>
            <a:ext cx="2124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952500"/>
            <a:ext cx="8686800" cy="70098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47650" y="952500"/>
            <a:ext cx="0" cy="700980"/>
          </a:xfrm>
          <a:prstGeom prst="line">
            <a:avLst/>
          </a:prstGeom>
          <a:noFill/>
          <a:ln w="381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150" y="1085850"/>
            <a:ext cx="8471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150" y="1348680"/>
            <a:ext cx="8471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we identify statistically significant spatial clusters of climate stress and environmental justice burden to inform equitable infrastructure investment?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2565946"/>
            <a:ext cx="43331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2821186"/>
            <a:ext cx="424815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425" y="2945011"/>
            <a:ext cx="4000500" cy="1143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approaches analyze counties independently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spatial dependencies between neighbors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to inefficient resource allocation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7250" y="2713732"/>
            <a:ext cx="43331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CONTEXT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7250" y="2968972"/>
            <a:ext cx="4248150" cy="605582"/>
          </a:xfrm>
          <a:prstGeom prst="roundRect">
            <a:avLst>
              <a:gd name="adj" fmla="val 9437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1550" y="3083272"/>
            <a:ext cx="40999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Justice40 Initiative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81550" y="3313658"/>
            <a:ext cx="40999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climate investment benefits must flow to disadvantaged communities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67250" y="3669804"/>
            <a:ext cx="4248150" cy="394246"/>
          </a:xfrm>
          <a:prstGeom prst="roundRect">
            <a:avLst>
              <a:gd name="adj" fmla="val 14496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91075" y="3793629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evidence-based targeting of priority counties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28600" y="4781550"/>
            <a:ext cx="13015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Order 14008 (2021)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oundRect">
            <a:avLst>
              <a:gd name="adj" fmla="val 12500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14325"/>
            <a:ext cx="47625" cy="209550"/>
          </a:xfrm>
          <a:prstGeom prst="rect">
            <a:avLst/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1975" y="304800"/>
            <a:ext cx="1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Description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933450"/>
            <a:ext cx="2806750" cy="655290"/>
          </a:xfrm>
          <a:prstGeom prst="roundRect">
            <a:avLst>
              <a:gd name="adj" fmla="val 8721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981" y="1028700"/>
            <a:ext cx="255198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55981" y="1360140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Counties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168700" y="933450"/>
            <a:ext cx="2806750" cy="655290"/>
          </a:xfrm>
          <a:prstGeom prst="roundRect">
            <a:avLst>
              <a:gd name="adj" fmla="val 8721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96080" y="1028700"/>
            <a:ext cx="255198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296080" y="1360140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08799" y="933450"/>
            <a:ext cx="2806750" cy="655290"/>
          </a:xfrm>
          <a:prstGeom prst="roundRect">
            <a:avLst>
              <a:gd name="adj" fmla="val 8721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36180" y="1028700"/>
            <a:ext cx="255198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36180" y="1360140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Variables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8600" y="2392710"/>
            <a:ext cx="51997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28600" y="2596455"/>
            <a:ext cx="5097810" cy="1476375"/>
          </a:xfrm>
          <a:prstGeom prst="roundRect">
            <a:avLst>
              <a:gd name="adj" fmla="val 3871"/>
            </a:avLst>
          </a:prstGeom>
          <a:noFill/>
          <a:ln w="9525">
            <a:solidFill>
              <a:srgbClr val="CBD5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8125" y="2605980"/>
            <a:ext cx="5078760" cy="28575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2425" y="2682180"/>
            <a:ext cx="173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49959" y="2682180"/>
            <a:ext cx="173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747492" y="2682180"/>
            <a:ext cx="14840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38125" y="2891730"/>
            <a:ext cx="5078760" cy="2952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38125" y="3182243"/>
            <a:ext cx="50787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2425" y="2967930"/>
            <a:ext cx="173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Hazards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049959" y="2967930"/>
            <a:ext cx="173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NOAA, CAL FIRE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47492" y="2967930"/>
            <a:ext cx="14840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Heat, Drought, Fire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38125" y="3187005"/>
            <a:ext cx="5078760" cy="295275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38125" y="3477518"/>
            <a:ext cx="50787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425" y="3263205"/>
            <a:ext cx="173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Reliability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049959" y="3263205"/>
            <a:ext cx="173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EAGLE-I, CPUC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747492" y="3263205"/>
            <a:ext cx="14840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OBI, SAIDI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38125" y="3482280"/>
            <a:ext cx="5078760" cy="2952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38125" y="3772793"/>
            <a:ext cx="50787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2425" y="3558480"/>
            <a:ext cx="173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Justice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049959" y="3558480"/>
            <a:ext cx="173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CalEnviroScreen 4.0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747492" y="3558480"/>
            <a:ext cx="14840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EJBI, Pollution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38125" y="3777555"/>
            <a:ext cx="5078760" cy="2857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52425" y="3853755"/>
            <a:ext cx="173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049959" y="3853755"/>
            <a:ext cx="173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Census TIGER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747492" y="3853755"/>
            <a:ext cx="14840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Polygons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516910" y="2073920"/>
            <a:ext cx="3466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VARIABLES (0-1 SCALE)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516910" y="2277666"/>
            <a:ext cx="3398490" cy="485626"/>
          </a:xfrm>
          <a:prstGeom prst="roundRect">
            <a:avLst>
              <a:gd name="adj" fmla="val 9807"/>
            </a:avLst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631210" y="2372916"/>
            <a:ext cx="32332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 - Outage Burden Index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5631210" y="2548086"/>
            <a:ext cx="32332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outage frequency and severity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5516910" y="2820442"/>
            <a:ext cx="3398490" cy="485626"/>
          </a:xfrm>
          <a:prstGeom prst="roundRect">
            <a:avLst>
              <a:gd name="adj" fmla="val 9807"/>
            </a:avLst>
          </a:prstGeom>
          <a:solidFill>
            <a:srgbClr val="2C7B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631210" y="2915692"/>
            <a:ext cx="32332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EJBI - Environmental Justice Index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5631210" y="3090863"/>
            <a:ext cx="32332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Pollution and socioeconomic vulnerability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5516910" y="3363218"/>
            <a:ext cx="3398490" cy="485626"/>
          </a:xfrm>
          <a:prstGeom prst="roundRect">
            <a:avLst>
              <a:gd name="adj" fmla="val 9807"/>
            </a:avLst>
          </a:prstGeom>
          <a:solidFill>
            <a:srgbClr val="FDAE6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631210" y="3458468"/>
            <a:ext cx="32332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Stress Index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5631210" y="3633639"/>
            <a:ext cx="32332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heat exposure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5516910" y="3905994"/>
            <a:ext cx="3398490" cy="485626"/>
          </a:xfrm>
          <a:prstGeom prst="roundRect">
            <a:avLst>
              <a:gd name="adj" fmla="val 9807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631210" y="4001244"/>
            <a:ext cx="32332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Risk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5631210" y="4176415"/>
            <a:ext cx="32332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OBI + 30% EJBI + 30% Climate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228600" y="4781550"/>
            <a:ext cx="23761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California Open Data Portal (data.ca.gov)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oundRect">
            <a:avLst>
              <a:gd name="adj" fmla="val 12500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14325"/>
            <a:ext cx="47625" cy="209550"/>
          </a:xfrm>
          <a:prstGeom prst="rect">
            <a:avLst/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1975" y="304800"/>
            <a:ext cx="27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LISA Clustering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933450"/>
            <a:ext cx="4267200" cy="738932"/>
          </a:xfrm>
          <a:prstGeom prst="roundRect">
            <a:avLst>
              <a:gd name="adj" fmla="val 773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047750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LISA?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2900" y="1264890"/>
            <a:ext cx="411937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Indicators of Spatial Association (Local Moran's I) detects statistically significant clusters by comparing each county's value to its neighbors.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648200" y="933450"/>
            <a:ext cx="4267200" cy="738932"/>
          </a:xfrm>
          <a:prstGeom prst="roundRect">
            <a:avLst>
              <a:gd name="adj" fmla="val 7734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0" y="1047750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LISA?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62500" y="1264890"/>
            <a:ext cx="411937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p-values for each cluster, identifies local patterns global methods miss, and maps directly to policy actions.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28600" y="1786682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CLUSTER CLASSIFICATION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28600" y="2560290"/>
            <a:ext cx="1661220" cy="1689348"/>
          </a:xfrm>
          <a:prstGeom prst="roundRect">
            <a:avLst>
              <a:gd name="adj" fmla="val 3440"/>
            </a:avLst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8574" y="2674590"/>
            <a:ext cx="146127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28574" y="3230761"/>
            <a:ext cx="146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Spot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8574" y="3554611"/>
            <a:ext cx="1461272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 surrounded by high values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342900" y="3934420"/>
            <a:ext cx="14326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8574" y="4015383"/>
            <a:ext cx="14612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Intervention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985070" y="2615952"/>
            <a:ext cx="1661220" cy="1578025"/>
          </a:xfrm>
          <a:prstGeom prst="roundRect">
            <a:avLst>
              <a:gd name="adj" fmla="val 3622"/>
            </a:avLst>
          </a:prstGeom>
          <a:solidFill>
            <a:srgbClr val="2C7B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85043" y="2730252"/>
            <a:ext cx="146127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85043" y="3286423"/>
            <a:ext cx="146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Spot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085043" y="3610273"/>
            <a:ext cx="1461272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value surrounded by low values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2099370" y="3878759"/>
            <a:ext cx="14326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85043" y="3959721"/>
            <a:ext cx="14612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Area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741539" y="2615952"/>
            <a:ext cx="1661220" cy="1578025"/>
          </a:xfrm>
          <a:prstGeom prst="roundRect">
            <a:avLst>
              <a:gd name="adj" fmla="val 3622"/>
            </a:avLst>
          </a:prstGeom>
          <a:solidFill>
            <a:srgbClr val="FDAE6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841513" y="2730252"/>
            <a:ext cx="146127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3841513" y="3286423"/>
            <a:ext cx="146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Outlier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41513" y="3610273"/>
            <a:ext cx="1461272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 surrounded by low values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3855839" y="3878759"/>
            <a:ext cx="14326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1513" y="3959721"/>
            <a:ext cx="14612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Action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498009" y="2615952"/>
            <a:ext cx="1661220" cy="1578025"/>
          </a:xfrm>
          <a:prstGeom prst="roundRect">
            <a:avLst>
              <a:gd name="adj" fmla="val 3622"/>
            </a:avLst>
          </a:prstGeom>
          <a:solidFill>
            <a:srgbClr val="ABD9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97982" y="2730252"/>
            <a:ext cx="146127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5597982" y="3286423"/>
            <a:ext cx="146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Outlier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597982" y="3610273"/>
            <a:ext cx="1461272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value surrounded by high values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5612309" y="3878759"/>
            <a:ext cx="14326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97982" y="3959721"/>
            <a:ext cx="14612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Model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7254478" y="2560290"/>
            <a:ext cx="1661220" cy="1689348"/>
          </a:xfrm>
          <a:prstGeom prst="roundRect">
            <a:avLst>
              <a:gd name="adj" fmla="val 3440"/>
            </a:avLst>
          </a:prstGeom>
          <a:solidFill>
            <a:srgbClr val="D3D3D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54452" y="2674590"/>
            <a:ext cx="146127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7354452" y="3230761"/>
            <a:ext cx="146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354452" y="3554611"/>
            <a:ext cx="1461272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spatial pattern (p &gt; 0.05)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7368778" y="3934420"/>
            <a:ext cx="14326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54452" y="4015383"/>
            <a:ext cx="14612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Evidence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228600" y="4781550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Anselin, L. (1995). Local Indicators of Spatial Association. Geographical Analysis, 27(2).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oundRect">
            <a:avLst>
              <a:gd name="adj" fmla="val 12500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14325"/>
            <a:ext cx="47625" cy="209550"/>
          </a:xfrm>
          <a:prstGeom prst="rect">
            <a:avLst/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1975" y="304800"/>
            <a:ext cx="3036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LISA Cluster Maps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78577" y="345728"/>
            <a:ext cx="3921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7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288383" y="876299"/>
            <a:ext cx="4286250" cy="2271665"/>
          </a:xfrm>
          <a:prstGeom prst="roundRect">
            <a:avLst>
              <a:gd name="adj" fmla="val 2377"/>
            </a:avLst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rtlCol="0" anchor="ctr"/>
          <a:lstStyle/>
          <a:p>
            <a:r>
              <a:rPr lang="en-US" b="1" dirty="0"/>
              <a:t>Figure 7: LISA Cluster Analysis – Local Indicators of Spatial Association</a:t>
            </a:r>
            <a:r>
              <a:rPr lang="en-US" dirty="0"/>
              <a:t>: </a:t>
            </a:r>
            <a:r>
              <a:rPr lang="en-US" sz="1600" dirty="0"/>
              <a:t>Four-panel choropleth maps showing LISA clusters for OBI, EJBI, Heat Stress, and Composite Risk. Red = Hot Spots (HH), Blue = Cold Spots (LL), Orange/Cyan = Spatial Outliers.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2642" y="3733949"/>
            <a:ext cx="1948458" cy="291405"/>
          </a:xfrm>
          <a:prstGeom prst="roundRect">
            <a:avLst>
              <a:gd name="adj" fmla="val 16343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76467" y="382250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28867" y="3819674"/>
            <a:ext cx="1263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7347942" y="382250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C7B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00342" y="3819674"/>
            <a:ext cx="973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7690991" y="382250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DAE6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43391" y="3819674"/>
            <a:ext cx="1118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8048327" y="382250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ABD9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00727" y="3819674"/>
            <a:ext cx="1118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8405664" y="382250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D3D3D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558064" y="3819674"/>
            <a:ext cx="1215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28600" y="4253954"/>
            <a:ext cx="2085975" cy="508546"/>
          </a:xfrm>
          <a:prstGeom prst="roundRect">
            <a:avLst>
              <a:gd name="adj" fmla="val 936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47650" y="4253954"/>
            <a:ext cx="0" cy="508546"/>
          </a:xfrm>
          <a:prstGeom prst="line">
            <a:avLst/>
          </a:prstGeom>
          <a:noFill/>
          <a:ln w="381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0050" y="4349204"/>
            <a:ext cx="18167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 Clusters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00050" y="4533900"/>
            <a:ext cx="1816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HH | 12 LL | 6 Outliers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428875" y="4253954"/>
            <a:ext cx="2085975" cy="508546"/>
          </a:xfrm>
          <a:prstGeom prst="roundRect">
            <a:avLst>
              <a:gd name="adj" fmla="val 936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447925" y="4253954"/>
            <a:ext cx="0" cy="508546"/>
          </a:xfrm>
          <a:prstGeom prst="line">
            <a:avLst/>
          </a:prstGeom>
          <a:noFill/>
          <a:ln w="38100">
            <a:solidFill>
              <a:srgbClr val="2C7B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00325" y="4349204"/>
            <a:ext cx="18167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EJBI Clusters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600325" y="4533900"/>
            <a:ext cx="1816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HH | 15 LL | 4 Outliers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29150" y="4253954"/>
            <a:ext cx="2085975" cy="508546"/>
          </a:xfrm>
          <a:prstGeom prst="roundRect">
            <a:avLst>
              <a:gd name="adj" fmla="val 936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48200" y="4253954"/>
            <a:ext cx="0" cy="508546"/>
          </a:xfrm>
          <a:prstGeom prst="line">
            <a:avLst/>
          </a:prstGeom>
          <a:noFill/>
          <a:ln w="38100">
            <a:solidFill>
              <a:srgbClr val="FDAE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4349204"/>
            <a:ext cx="18167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Stress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00600" y="4533900"/>
            <a:ext cx="1816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HH | 18 LL | 3 Outliers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29425" y="4253954"/>
            <a:ext cx="2085975" cy="508546"/>
          </a:xfrm>
          <a:prstGeom prst="roundRect">
            <a:avLst>
              <a:gd name="adj" fmla="val 936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848475" y="4253954"/>
            <a:ext cx="0" cy="508546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00875" y="4349204"/>
            <a:ext cx="18167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7000875" y="4533900"/>
            <a:ext cx="1816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HH | 14 LL | 5 Outliers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28600" y="4781550"/>
            <a:ext cx="2190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weights: k-NN (k=8) | Significance: p &lt; 0.05</a:t>
            </a:r>
            <a:endParaRPr lang="en-US" sz="750" dirty="0"/>
          </a:p>
        </p:txBody>
      </p:sp>
      <p:pic>
        <p:nvPicPr>
          <p:cNvPr id="38" name="Picture 37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DFF753F-EEA1-BD52-CD85-69CEDB22F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771525"/>
            <a:ext cx="3555123" cy="3273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oundRect">
            <a:avLst>
              <a:gd name="adj" fmla="val 12500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14325"/>
            <a:ext cx="47625" cy="209550"/>
          </a:xfrm>
          <a:prstGeom prst="rect">
            <a:avLst/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1975" y="304800"/>
            <a:ext cx="14640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1219200"/>
            <a:ext cx="5172373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8600" y="1223962"/>
            <a:ext cx="517237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96210" y="1219200"/>
            <a:ext cx="0" cy="7429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957387"/>
            <a:ext cx="517237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7650" y="1219200"/>
            <a:ext cx="0" cy="742950"/>
          </a:xfrm>
          <a:prstGeom prst="line">
            <a:avLst/>
          </a:prstGeom>
          <a:noFill/>
          <a:ln w="381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0050" y="1343025"/>
            <a:ext cx="258366" cy="323850"/>
          </a:xfrm>
          <a:prstGeom prst="roundRect">
            <a:avLst>
              <a:gd name="adj" fmla="val 14747"/>
            </a:avLst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" y="13716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4616" y="1424880"/>
            <a:ext cx="13475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Valley Hot Spots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050" y="1704975"/>
            <a:ext cx="4955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Fresno, Kern, Tulare, Kings form contiguous HH clusters for heat stress (I = 0.887)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8600" y="2057400"/>
            <a:ext cx="5172373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28600" y="2062163"/>
            <a:ext cx="517237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96210" y="2057400"/>
            <a:ext cx="0" cy="7429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795588"/>
            <a:ext cx="517237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7650" y="2057400"/>
            <a:ext cx="0" cy="742950"/>
          </a:xfrm>
          <a:prstGeom prst="line">
            <a:avLst/>
          </a:prstGeom>
          <a:noFill/>
          <a:ln w="38100">
            <a:solidFill>
              <a:srgbClr val="2C7B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0050" y="2181225"/>
            <a:ext cx="258366" cy="323850"/>
          </a:xfrm>
          <a:prstGeom prst="roundRect">
            <a:avLst>
              <a:gd name="adj" fmla="val 14747"/>
            </a:avLst>
          </a:prstGeom>
          <a:solidFill>
            <a:srgbClr val="2C7B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6250" y="22098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4616" y="2263080"/>
            <a:ext cx="10688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Cold Spots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0050" y="2543175"/>
            <a:ext cx="4955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SF, Marin, San Mateo, Santa Cruz form LL clusters - resilient areas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895600"/>
            <a:ext cx="5172373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28600" y="2900363"/>
            <a:ext cx="517237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96210" y="2895600"/>
            <a:ext cx="0" cy="7429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3633787"/>
            <a:ext cx="517237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7650" y="2895600"/>
            <a:ext cx="0" cy="742950"/>
          </a:xfrm>
          <a:prstGeom prst="line">
            <a:avLst/>
          </a:prstGeom>
          <a:noFill/>
          <a:ln w="38100">
            <a:solidFill>
              <a:srgbClr val="FDAE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0050" y="3019425"/>
            <a:ext cx="258366" cy="323850"/>
          </a:xfrm>
          <a:prstGeom prst="roundRect">
            <a:avLst>
              <a:gd name="adj" fmla="val 14747"/>
            </a:avLst>
          </a:prstGeom>
          <a:solidFill>
            <a:srgbClr val="FDAE6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250" y="30480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4616" y="3101280"/>
            <a:ext cx="12006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EJ-Climate Alignment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0050" y="3381375"/>
            <a:ext cx="4955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HH counties for EJBI overlap with heat stress hot spots - compound burdens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28600" y="3733800"/>
            <a:ext cx="5172373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28600" y="3738562"/>
            <a:ext cx="517237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396210" y="3733800"/>
            <a:ext cx="0" cy="7429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8600" y="4471988"/>
            <a:ext cx="517237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7650" y="3733800"/>
            <a:ext cx="0" cy="74295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0050" y="3857625"/>
            <a:ext cx="258366" cy="323850"/>
          </a:xfrm>
          <a:prstGeom prst="roundRect">
            <a:avLst>
              <a:gd name="adj" fmla="val 14747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6250" y="38862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4616" y="3939480"/>
            <a:ext cx="12891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County Outlier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00050" y="4219575"/>
            <a:ext cx="4955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 outlier for OBI - high outage burden despite low-burden neighbors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553373" y="1741289"/>
            <a:ext cx="3362027" cy="2213223"/>
          </a:xfrm>
          <a:prstGeom prst="roundRect">
            <a:avLst>
              <a:gd name="adj" fmla="val 2582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686723" y="1874639"/>
            <a:ext cx="31572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Counties for Justice40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5686723" y="2143125"/>
            <a:ext cx="3095327" cy="508546"/>
          </a:xfrm>
          <a:prstGeom prst="roundRect">
            <a:avLst>
              <a:gd name="adj" fmla="val 936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781973" y="2238375"/>
            <a:ext cx="2962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VALLEY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781973" y="2409825"/>
            <a:ext cx="2962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Fresno, Kern, Tulare, Kings, Merced, Madera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5686723" y="2727871"/>
            <a:ext cx="3095327" cy="508546"/>
          </a:xfrm>
          <a:prstGeom prst="roundRect">
            <a:avLst>
              <a:gd name="adj" fmla="val 936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81973" y="2823121"/>
            <a:ext cx="2962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DESERT REGION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81973" y="2994571"/>
            <a:ext cx="2962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Imperial, Riverside, San Bernardino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5686723" y="3312616"/>
            <a:ext cx="3095327" cy="508546"/>
          </a:xfrm>
          <a:prstGeom prst="roundRect">
            <a:avLst>
              <a:gd name="adj" fmla="val 936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781973" y="3407866"/>
            <a:ext cx="2962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BASIN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781973" y="3579316"/>
            <a:ext cx="2962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(portions)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228600" y="4781550"/>
            <a:ext cx="2454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clusters significant at p &lt; 0.05 using 999 permutations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oundRect">
            <a:avLst>
              <a:gd name="adj" fmla="val 12500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14325"/>
            <a:ext cx="47625" cy="209550"/>
          </a:xfrm>
          <a:prstGeom prst="rect">
            <a:avLst/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1975" y="304800"/>
            <a:ext cx="3125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Global Moran's 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78577" y="345728"/>
            <a:ext cx="3921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6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57725" y="1429792"/>
            <a:ext cx="43428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RESULTS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57725" y="1671638"/>
            <a:ext cx="4257675" cy="1819275"/>
          </a:xfrm>
          <a:prstGeom prst="roundRect">
            <a:avLst>
              <a:gd name="adj" fmla="val 3141"/>
            </a:avLst>
          </a:prstGeom>
          <a:noFill/>
          <a:ln w="9525">
            <a:solidFill>
              <a:srgbClr val="CBD5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67250" y="1681163"/>
            <a:ext cx="4238625" cy="32385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1550" y="1776413"/>
            <a:ext cx="11452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95488" y="1776413"/>
            <a:ext cx="8997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Moran's 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777593" y="1776413"/>
            <a:ext cx="8997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57290" y="1776413"/>
            <a:ext cx="11452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67250" y="2005013"/>
            <a:ext cx="4238625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0" y="2371725"/>
            <a:ext cx="423862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81550" y="2112615"/>
            <a:ext cx="11452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895488" y="2105918"/>
            <a:ext cx="8997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77593" y="2112615"/>
            <a:ext cx="8997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67250" y="2376488"/>
            <a:ext cx="4238625" cy="371475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0" y="2743200"/>
            <a:ext cx="423862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81550" y="2484090"/>
            <a:ext cx="11452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EJBI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895488" y="2477393"/>
            <a:ext cx="8997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77593" y="2484090"/>
            <a:ext cx="8997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6.15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667250" y="2747963"/>
            <a:ext cx="4238625" cy="371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67250" y="3114675"/>
            <a:ext cx="423862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81550" y="2855565"/>
            <a:ext cx="11452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Stress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895488" y="2848868"/>
            <a:ext cx="8997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77593" y="2855565"/>
            <a:ext cx="8997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8.54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667250" y="3119438"/>
            <a:ext cx="4238625" cy="3619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81550" y="3227040"/>
            <a:ext cx="11452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5895488" y="3220343"/>
            <a:ext cx="8997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77593" y="3227040"/>
            <a:ext cx="8997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5.02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657725" y="3586163"/>
            <a:ext cx="4257675" cy="679996"/>
          </a:xfrm>
          <a:prstGeom prst="roundRect">
            <a:avLst>
              <a:gd name="adj" fmla="val 8404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72025" y="3700463"/>
            <a:ext cx="41096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772025" y="3885158"/>
            <a:ext cx="4109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variables show significant positive spatial autocorrelation (p &lt; 0.001). Heat Stress (I=0.887) shows very strong clustering.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28600" y="4781550"/>
            <a:ext cx="1837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Inference: 999 permutations | *** p &lt; 0.001</a:t>
            </a:r>
            <a:endParaRPr lang="en-US" sz="750" dirty="0"/>
          </a:p>
        </p:txBody>
      </p:sp>
      <p:pic>
        <p:nvPicPr>
          <p:cNvPr id="43" name="Picture 42" descr="A collage of graphs&#10;&#10;AI-generated content may be incorrect.">
            <a:extLst>
              <a:ext uri="{FF2B5EF4-FFF2-40B4-BE49-F238E27FC236}">
                <a16:creationId xmlns:a16="http://schemas.microsoft.com/office/drawing/2014/main" id="{6263C20C-E363-C89C-7405-2965DE01C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2" y="726015"/>
            <a:ext cx="4411274" cy="38227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800100"/>
            <a:ext cx="8572500" cy="704850"/>
          </a:xfrm>
          <a:prstGeom prst="roundRect">
            <a:avLst>
              <a:gd name="adj" fmla="val 810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800100"/>
            <a:ext cx="0" cy="704850"/>
          </a:xfrm>
          <a:prstGeom prst="line">
            <a:avLst/>
          </a:prstGeom>
          <a:noFill/>
          <a:ln w="381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6250" y="95250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clustering effectively identifies statistically significant spatial patterns in climate stress and environmental justice burden. Disadvantaged communities are geographically clustered - not randomly distributed.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2544068"/>
            <a:ext cx="2768650" cy="895350"/>
          </a:xfrm>
          <a:prstGeom prst="roundRect">
            <a:avLst>
              <a:gd name="adj" fmla="val 638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677418"/>
            <a:ext cx="266700" cy="266700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6491" y="2717453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730698"/>
            <a:ext cx="920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Success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9100" y="3020318"/>
            <a:ext cx="25519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variables show significant clustering (p &lt; 0.001). 43 statistically significant clusters identified.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187750" y="2544068"/>
            <a:ext cx="2768650" cy="895350"/>
          </a:xfrm>
          <a:prstGeom prst="roundRect">
            <a:avLst>
              <a:gd name="adj" fmla="val 638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21100" y="2677418"/>
            <a:ext cx="266700" cy="266700"/>
          </a:xfrm>
          <a:prstGeom prst="roundRect">
            <a:avLst>
              <a:gd name="adj" fmla="val 17857"/>
            </a:avLst>
          </a:prstGeom>
          <a:solidFill>
            <a:srgbClr val="D719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35846" y="2717453"/>
            <a:ext cx="377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64000" y="2730698"/>
            <a:ext cx="7603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Areas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21100" y="3020318"/>
            <a:ext cx="25519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Valley and desert regions emerge as consistent hot spots for climate-resilient infrastructure.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89749" y="2544068"/>
            <a:ext cx="2768650" cy="895350"/>
          </a:xfrm>
          <a:prstGeom prst="roundRect">
            <a:avLst>
              <a:gd name="adj" fmla="val 638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23099" y="2677418"/>
            <a:ext cx="266700" cy="266700"/>
          </a:xfrm>
          <a:prstGeom prst="roundRect">
            <a:avLst>
              <a:gd name="adj" fmla="val 17857"/>
            </a:avLst>
          </a:prstGeom>
          <a:solidFill>
            <a:srgbClr val="2C7B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89774" y="2717453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65999" y="2730698"/>
            <a:ext cx="7517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Impact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23099" y="3020318"/>
            <a:ext cx="25519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support targeted Justice40 interventions rather than uniform distribution of resources.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85750" y="4483447"/>
            <a:ext cx="85725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5750" y="4583460"/>
            <a:ext cx="1596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Love Franklin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5750" y="4781550"/>
            <a:ext cx="1596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Meharry Medical College | MSBD566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24567" y="4596705"/>
            <a:ext cx="1533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7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github.com/vlfranklin/segda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324567" y="4768155"/>
            <a:ext cx="1533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BD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data.ca.gov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741</Words>
  <Application>Microsoft Office PowerPoint</Application>
  <PresentationFormat>On-screen Show (16:9)</PresentationFormat>
  <Paragraphs>161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LISA Clustering for Climate Justice Analysis</dc:title>
  <dc:subject>MSBD566 Midterm Project</dc:subject>
  <dc:creator>Victoria Love Franklin</dc:creator>
  <cp:lastModifiedBy>Franklin, Victoria</cp:lastModifiedBy>
  <cp:revision>2</cp:revision>
  <dcterms:created xsi:type="dcterms:W3CDTF">2025-12-28T17:34:28Z</dcterms:created>
  <dcterms:modified xsi:type="dcterms:W3CDTF">2025-12-28T17:43:57Z</dcterms:modified>
</cp:coreProperties>
</file>