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Variance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PC1</c:v>
                </c:pt>
                <c:pt idx="1">
                  <c:v>PC2</c:v>
                </c:pt>
                <c:pt idx="2">
                  <c:v>PC3</c:v>
                </c:pt>
                <c:pt idx="3">
                  <c:v>PC4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47.3</c:v>
                </c:pt>
                <c:pt idx="1">
                  <c:v>25.5</c:v>
                </c:pt>
                <c:pt idx="2">
                  <c:v>19.3</c:v>
                </c:pt>
                <c:pt idx="3">
                  <c:v>5.0999999999999996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4E3-4AAA-8CD7-BC9E202AF4F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Variance Explained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98a1b9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76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7286" y="804118"/>
            <a:ext cx="684942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50"/>
              </a:lnSpc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Risk Prediction in California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1970219" y="1508968"/>
            <a:ext cx="520356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spcAft>
                <a:spcPts val="600"/>
              </a:spcAft>
              <a:buNone/>
            </a:pPr>
            <a:r>
              <a:rPr lang="en-US" sz="16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Dimensionality Reduction and Neural Network Analysis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417891" y="2030909"/>
            <a:ext cx="430821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Aft>
                <a:spcPts val="3000"/>
              </a:spcAft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Real Data from CalEnviroScreen, CAL FIRE, and NOAA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000500" y="2777579"/>
            <a:ext cx="1143000" cy="28575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659959" y="3339554"/>
            <a:ext cx="182393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Victoria Love Franklin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173272" y="3808065"/>
            <a:ext cx="279745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MSBD566 – Predictive Modeling and Analytics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366974" y="4185196"/>
            <a:ext cx="241005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Meharry Medical College • December 2025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0" y="5086350"/>
            <a:ext cx="9144000" cy="5715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854964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1000" y="906661"/>
            <a:ext cx="8382000" cy="613321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906661"/>
            <a:ext cx="0" cy="613321"/>
          </a:xfrm>
          <a:prstGeom prst="line">
            <a:avLst/>
          </a:prstGeom>
          <a:noFill/>
          <a:ln w="381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1500" y="1020961"/>
            <a:ext cx="819988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Justice40 Initiative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71500" y="1245691"/>
            <a:ext cx="81998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 mandate requiring 40% of climate investment benefits to flow to disadvantaged communities.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1000" y="1824782"/>
            <a:ext cx="2717750" cy="832396"/>
          </a:xfrm>
          <a:prstGeom prst="roundRect">
            <a:avLst>
              <a:gd name="adj" fmla="val 6866"/>
            </a:avLst>
          </a:prstGeom>
          <a:solidFill>
            <a:srgbClr val="FEF3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5300" y="1939082"/>
            <a:ext cx="253893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🌡️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5300" y="2243882"/>
            <a:ext cx="25389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Hazards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495300" y="2409527"/>
            <a:ext cx="25389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Heat, wildfires, floods impact vulnerable areas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213050" y="1824782"/>
            <a:ext cx="2717750" cy="832396"/>
          </a:xfrm>
          <a:prstGeom prst="roundRect">
            <a:avLst>
              <a:gd name="adj" fmla="val 6866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327350" y="1939082"/>
            <a:ext cx="253893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27350" y="2243882"/>
            <a:ext cx="25389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Justice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3327350" y="2409527"/>
            <a:ext cx="25389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Pollution and vulnerability are concentrated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045101" y="1824782"/>
            <a:ext cx="2717750" cy="832396"/>
          </a:xfrm>
          <a:prstGeom prst="roundRect">
            <a:avLst>
              <a:gd name="adj" fmla="val 6866"/>
            </a:avLst>
          </a:prstGeom>
          <a:solidFill>
            <a:srgbClr val="F0E8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159401" y="1939082"/>
            <a:ext cx="253893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59401" y="2243882"/>
            <a:ext cx="25389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Targeting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6159401" y="2409527"/>
            <a:ext cx="25389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methods for investment priority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81000" y="2961977"/>
            <a:ext cx="8382000" cy="1952923"/>
          </a:xfrm>
          <a:prstGeom prst="roundRect">
            <a:avLst>
              <a:gd name="adj" fmla="val 2926"/>
            </a:avLst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71500" y="3114377"/>
            <a:ext cx="816102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571500" y="3337173"/>
            <a:ext cx="816102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machine learning methods (PCA + Neural Networks) effectively classify California counties by climate risk using real environmental and hazard data?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238895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Data Sources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1000" y="1800374"/>
            <a:ext cx="2692450" cy="2220813"/>
          </a:xfrm>
          <a:prstGeom prst="roundRect">
            <a:avLst>
              <a:gd name="adj" fmla="val 3431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81000" y="1819424"/>
            <a:ext cx="2692450" cy="0"/>
          </a:xfrm>
          <a:prstGeom prst="line">
            <a:avLst/>
          </a:prstGeom>
          <a:noFill/>
          <a:ln w="381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28254" y="1971824"/>
            <a:ext cx="122157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CalEnviroScreen 4.0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1028254" y="2145060"/>
            <a:ext cx="122157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EPA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514350" y="2512665"/>
            <a:ext cx="24742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750"/>
              </a:spcAft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justice screening tool combining pollution burden with population vulnerability.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14350" y="3027015"/>
            <a:ext cx="2425750" cy="512266"/>
          </a:xfrm>
          <a:prstGeom prst="roundRect">
            <a:avLst>
              <a:gd name="adj" fmla="val 7438"/>
            </a:avLst>
          </a:prstGeom>
          <a:solidFill>
            <a:srgbClr val="E8ED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67817" y="3103215"/>
            <a:ext cx="231881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7817" y="3343126"/>
            <a:ext cx="231881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Counties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514350" y="3767882"/>
            <a:ext cx="247426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Variables: Pollution, poverty, health, housing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3225850" y="1800374"/>
            <a:ext cx="2692450" cy="2220813"/>
          </a:xfrm>
          <a:prstGeom prst="roundRect">
            <a:avLst>
              <a:gd name="adj" fmla="val 3431"/>
            </a:avLst>
          </a:prstGeom>
          <a:solidFill>
            <a:srgbClr val="FEF3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225850" y="1819424"/>
            <a:ext cx="2692450" cy="0"/>
          </a:xfrm>
          <a:prstGeom prst="line">
            <a:avLst/>
          </a:prstGeom>
          <a:noFill/>
          <a:ln w="38100">
            <a:solidFill>
              <a:srgbClr val="D719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73103" y="1971824"/>
            <a:ext cx="11696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D7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 FIRE Incidents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3873103" y="2145060"/>
            <a:ext cx="116965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2013-2025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3359200" y="2512665"/>
            <a:ext cx="24742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750"/>
              </a:spcAft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wildfire incidents including acres burned, fatalities, and structures destroyed.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359200" y="3027015"/>
            <a:ext cx="2425750" cy="512266"/>
          </a:xfrm>
          <a:prstGeom prst="roundRect">
            <a:avLst>
              <a:gd name="adj" fmla="val 7438"/>
            </a:avLst>
          </a:prstGeom>
          <a:solidFill>
            <a:srgbClr val="FCE8D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412666" y="3103215"/>
            <a:ext cx="231881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D7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412666" y="3343126"/>
            <a:ext cx="231881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Incidents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3359200" y="3767882"/>
            <a:ext cx="247426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Key: Camp Fire, Mendocino Complex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6070699" y="1800374"/>
            <a:ext cx="2692450" cy="2220813"/>
          </a:xfrm>
          <a:prstGeom prst="roundRect">
            <a:avLst>
              <a:gd name="adj" fmla="val 3431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070699" y="1819424"/>
            <a:ext cx="2692450" cy="0"/>
          </a:xfrm>
          <a:prstGeom prst="line">
            <a:avLst/>
          </a:prstGeom>
          <a:noFill/>
          <a:ln w="38100">
            <a:solidFill>
              <a:srgbClr val="2C7B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717953" y="1971824"/>
            <a:ext cx="121656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C7B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NOAA Storm Events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6717953" y="2145060"/>
            <a:ext cx="121656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2010-2024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6204049" y="2512665"/>
            <a:ext cx="24742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750"/>
              </a:spcAft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hazard events including heat waves, floods, winter storms, and wildfires.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204049" y="3027015"/>
            <a:ext cx="2425750" cy="512266"/>
          </a:xfrm>
          <a:prstGeom prst="roundRect">
            <a:avLst>
              <a:gd name="adj" fmla="val 7438"/>
            </a:avLst>
          </a:prstGeom>
          <a:solidFill>
            <a:srgbClr val="D4EA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257516" y="3103215"/>
            <a:ext cx="231881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2C7B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183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257516" y="3343126"/>
            <a:ext cx="231881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6204049" y="3767882"/>
            <a:ext cx="247426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Types: Heat, flood, heavy rain</a:t>
            </a:r>
            <a:endParaRPr lang="en-US" sz="6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854964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1000" y="906661"/>
            <a:ext cx="1809750" cy="761851"/>
          </a:xfrm>
          <a:prstGeom prst="roundRect">
            <a:avLst>
              <a:gd name="adj" fmla="val 7501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171575" y="100191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231833" y="982861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60058" y="1287661"/>
            <a:ext cx="16516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Integration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460058" y="1453307"/>
            <a:ext cx="165163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sources → 58 counties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2286000" y="1154162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571750" y="906661"/>
            <a:ext cx="1809750" cy="761851"/>
          </a:xfrm>
          <a:prstGeom prst="roundRect">
            <a:avLst>
              <a:gd name="adj" fmla="val 7501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362325" y="100191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22583" y="982861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650808" y="1287661"/>
            <a:ext cx="16516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Indices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2650808" y="1453307"/>
            <a:ext cx="165163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normalized features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4476750" y="1154162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62500" y="906661"/>
            <a:ext cx="1809750" cy="761851"/>
          </a:xfrm>
          <a:prstGeom prst="roundRect">
            <a:avLst>
              <a:gd name="adj" fmla="val 7501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553075" y="100191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2E75B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613333" y="982861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41558" y="1287661"/>
            <a:ext cx="16516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PCA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841558" y="1453307"/>
            <a:ext cx="165163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→ 4 components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6667500" y="1154162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953250" y="906661"/>
            <a:ext cx="1809750" cy="761851"/>
          </a:xfrm>
          <a:prstGeom prst="roundRect">
            <a:avLst>
              <a:gd name="adj" fmla="val 7501"/>
            </a:avLst>
          </a:prstGeom>
          <a:solidFill>
            <a:srgbClr val="FEF3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743825" y="100191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D7191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804083" y="982861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032308" y="1287661"/>
            <a:ext cx="16516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D7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7032308" y="1453307"/>
            <a:ext cx="165163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3-class prediction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381000" y="2483048"/>
            <a:ext cx="4095750" cy="274290"/>
          </a:xfrm>
          <a:prstGeom prst="roundRect">
            <a:avLst>
              <a:gd name="adj" fmla="val 13890"/>
            </a:avLst>
          </a:prstGeom>
          <a:solidFill>
            <a:srgbClr val="2E75B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95300" y="2540198"/>
            <a:ext cx="39444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 Component Analysis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81000" y="2909739"/>
            <a:ext cx="4095750" cy="1495276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95300" y="3024039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</a:t>
            </a: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Dimensionality reduction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95300" y="3214539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</a:t>
            </a: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7 correlated risk features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95300" y="3405039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 orthogonal components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95300" y="3595539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Preprocessing:</a:t>
            </a: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StandardScaler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95300" y="3805089"/>
            <a:ext cx="3867150" cy="485626"/>
          </a:xfrm>
          <a:prstGeom prst="roundRect">
            <a:avLst>
              <a:gd name="adj" fmla="val 7846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34353" y="3881289"/>
            <a:ext cx="378904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97.2%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4353" y="4094559"/>
            <a:ext cx="378904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Variance retained</a:t>
            </a:r>
            <a:endParaRPr lang="en-US" sz="675" dirty="0"/>
          </a:p>
        </p:txBody>
      </p:sp>
      <p:sp>
        <p:nvSpPr>
          <p:cNvPr id="36" name="Text 34"/>
          <p:cNvSpPr/>
          <p:nvPr/>
        </p:nvSpPr>
        <p:spPr>
          <a:xfrm>
            <a:off x="4667250" y="2483048"/>
            <a:ext cx="4095750" cy="274290"/>
          </a:xfrm>
          <a:prstGeom prst="roundRect">
            <a:avLst>
              <a:gd name="adj" fmla="val 13890"/>
            </a:avLst>
          </a:prstGeom>
          <a:solidFill>
            <a:srgbClr val="D7191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781550" y="2540198"/>
            <a:ext cx="39444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Multi-Layer Perceptron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667250" y="2909739"/>
            <a:ext cx="4095750" cy="1495276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781550" y="3024039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Architecture:</a:t>
            </a: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 → 64 → 32 → 16 → 3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781550" y="3214539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Activation:</a:t>
            </a: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ReLU / Softmax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781550" y="3405039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Optimizer:</a:t>
            </a: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Adam + early stopping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781550" y="3595539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Validation:</a:t>
            </a: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5-fold CV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781550" y="3805089"/>
            <a:ext cx="3867150" cy="485626"/>
          </a:xfrm>
          <a:prstGeom prst="roundRect">
            <a:avLst>
              <a:gd name="adj" fmla="val 7846"/>
            </a:avLst>
          </a:prstGeom>
          <a:solidFill>
            <a:srgbClr val="FEF3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820603" y="3881289"/>
            <a:ext cx="378904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D7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80.0%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820603" y="4094559"/>
            <a:ext cx="378904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</a:t>
            </a:r>
            <a:endParaRPr lang="en-US" sz="6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162264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PCA Results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1000" y="1028551"/>
            <a:ext cx="4557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Variance Explained by Component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5039618" y="1332458"/>
            <a:ext cx="37978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Interpretation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5039618" y="1707654"/>
            <a:ext cx="3723382" cy="514350"/>
          </a:xfrm>
          <a:prstGeom prst="roundRect">
            <a:avLst>
              <a:gd name="adj" fmla="val 7407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53905" y="1707654"/>
            <a:ext cx="0" cy="514350"/>
          </a:xfrm>
          <a:prstGeom prst="line">
            <a:avLst/>
          </a:prstGeom>
          <a:noFill/>
          <a:ln w="28575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163443" y="1993404"/>
            <a:ext cx="35743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Risk Axis – EJBI, composite_risk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39618" y="2450604"/>
            <a:ext cx="3723382" cy="514350"/>
          </a:xfrm>
          <a:prstGeom prst="roundRect">
            <a:avLst>
              <a:gd name="adj" fmla="val 7407"/>
            </a:avLst>
          </a:prstGeom>
          <a:solidFill>
            <a:srgbClr val="FEF3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053905" y="2450604"/>
            <a:ext cx="0" cy="514350"/>
          </a:xfrm>
          <a:prstGeom prst="line">
            <a:avLst/>
          </a:prstGeom>
          <a:noFill/>
          <a:ln w="28575">
            <a:solidFill>
              <a:srgbClr val="D719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63443" y="2736354"/>
            <a:ext cx="35743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Wildfire Axis – wildfire_risk, OBI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039618" y="3193554"/>
            <a:ext cx="3723382" cy="514350"/>
          </a:xfrm>
          <a:prstGeom prst="roundRect">
            <a:avLst>
              <a:gd name="adj" fmla="val 7407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053905" y="3193554"/>
            <a:ext cx="0" cy="514350"/>
          </a:xfrm>
          <a:prstGeom prst="line">
            <a:avLst/>
          </a:prstGeom>
          <a:noFill/>
          <a:ln w="28575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63443" y="3479304"/>
            <a:ext cx="35743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Flood Risk Axis – flood_risk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039618" y="3936504"/>
            <a:ext cx="3723382" cy="514350"/>
          </a:xfrm>
          <a:prstGeom prst="roundRect">
            <a:avLst>
              <a:gd name="adj" fmla="val 7407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053905" y="3936504"/>
            <a:ext cx="0" cy="514350"/>
          </a:xfrm>
          <a:prstGeom prst="line">
            <a:avLst/>
          </a:prstGeom>
          <a:noFill/>
          <a:ln w="28575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163443" y="4222254"/>
            <a:ext cx="35743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Variation</a:t>
            </a:r>
            <a:endParaRPr lang="en-US" sz="75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381000" y="1403747"/>
          <a:ext cx="4468118" cy="33510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3734244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 Performance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1000" y="1763018"/>
            <a:ext cx="41776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Metrics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2138214"/>
            <a:ext cx="4095750" cy="1038225"/>
          </a:xfrm>
          <a:prstGeom prst="roundRect">
            <a:avLst>
              <a:gd name="adj" fmla="val 5505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2138214"/>
            <a:ext cx="4095750" cy="219075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81000" y="2628751"/>
            <a:ext cx="409575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1000" y="2904976"/>
            <a:ext cx="409575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1000" y="3443139"/>
            <a:ext cx="2000250" cy="577155"/>
          </a:xfrm>
          <a:prstGeom prst="roundRect">
            <a:avLst>
              <a:gd name="adj" fmla="val 6601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8153" y="3538389"/>
            <a:ext cx="18459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80.0%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8153" y="3805089"/>
            <a:ext cx="184594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2476500" y="3443139"/>
            <a:ext cx="2000250" cy="577155"/>
          </a:xfrm>
          <a:prstGeom prst="roundRect">
            <a:avLst>
              <a:gd name="adj" fmla="val 6601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553653" y="3538389"/>
            <a:ext cx="18459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79.2%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553653" y="3805089"/>
            <a:ext cx="184594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Mean ± 8.2%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4667250" y="1168152"/>
            <a:ext cx="41776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 Matrix</a:t>
            </a:r>
            <a:endParaRPr lang="en-US" sz="825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7250" y="1543348"/>
          <a:ext cx="3840480" cy="210312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Pred: High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Pred: Med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Pred: Low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Act: High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19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</a:rPr>
                        <a:t>Act: Med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AE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Act: Low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7B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306281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D7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High-Risk Counties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1000" y="868561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counties (32.8%) classified as High Risk for Justice40 investment priority</a:t>
            </a:r>
            <a:endParaRPr lang="en-US" sz="825" dirty="0"/>
          </a:p>
        </p:txBody>
      </p:sp>
      <p:pic>
        <p:nvPicPr>
          <p:cNvPr id="4" name="Image 0" descr="/tmp/rasterized-gradient-0c42ac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281857"/>
            <a:ext cx="1600200" cy="10685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5300" y="1624757"/>
            <a:ext cx="139903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450"/>
              </a:spcBef>
              <a:spcAft>
                <a:spcPts val="1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Angeles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95300" y="1830437"/>
            <a:ext cx="13990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5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0.606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95300" y="2116187"/>
            <a:ext cx="139903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EJBI + Heat</a:t>
            </a:r>
            <a:endParaRPr lang="en-US" sz="675" dirty="0"/>
          </a:p>
        </p:txBody>
      </p:sp>
      <p:sp>
        <p:nvSpPr>
          <p:cNvPr id="8" name="Text 5"/>
          <p:cNvSpPr/>
          <p:nvPr/>
        </p:nvSpPr>
        <p:spPr>
          <a:xfrm>
            <a:off x="2076450" y="1281857"/>
            <a:ext cx="1600200" cy="1068586"/>
          </a:xfrm>
          <a:prstGeom prst="roundRect">
            <a:avLst>
              <a:gd name="adj" fmla="val 5348"/>
            </a:avLst>
          </a:prstGeom>
          <a:solidFill>
            <a:srgbClr val="FF6B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190750" y="1624757"/>
            <a:ext cx="139903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450"/>
              </a:spcBef>
              <a:spcAft>
                <a:spcPts val="1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190750" y="1830437"/>
            <a:ext cx="13990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5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0.581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2190750" y="2116187"/>
            <a:ext cx="139903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Camp Fire</a:t>
            </a:r>
            <a:endParaRPr lang="en-US" sz="675" dirty="0"/>
          </a:p>
        </p:txBody>
      </p:sp>
      <p:sp>
        <p:nvSpPr>
          <p:cNvPr id="12" name="Text 9"/>
          <p:cNvSpPr/>
          <p:nvPr/>
        </p:nvSpPr>
        <p:spPr>
          <a:xfrm>
            <a:off x="3771900" y="1281857"/>
            <a:ext cx="1600200" cy="1068586"/>
          </a:xfrm>
          <a:prstGeom prst="roundRect">
            <a:avLst>
              <a:gd name="adj" fmla="val 5348"/>
            </a:avLst>
          </a:prstGeom>
          <a:solidFill>
            <a:srgbClr val="FF8C5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886200" y="1624757"/>
            <a:ext cx="139903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450"/>
              </a:spcBef>
              <a:spcAft>
                <a:spcPts val="1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Riverside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886200" y="1830437"/>
            <a:ext cx="13990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5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0.554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886200" y="2116187"/>
            <a:ext cx="139903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EJBI + Heat</a:t>
            </a:r>
            <a:endParaRPr lang="en-US" sz="675" dirty="0"/>
          </a:p>
        </p:txBody>
      </p:sp>
      <p:sp>
        <p:nvSpPr>
          <p:cNvPr id="16" name="Text 13"/>
          <p:cNvSpPr/>
          <p:nvPr/>
        </p:nvSpPr>
        <p:spPr>
          <a:xfrm>
            <a:off x="5467350" y="1281857"/>
            <a:ext cx="1600200" cy="1068586"/>
          </a:xfrm>
          <a:prstGeom prst="roundRect">
            <a:avLst>
              <a:gd name="adj" fmla="val 5348"/>
            </a:avLst>
          </a:prstGeom>
          <a:solidFill>
            <a:srgbClr val="FFA06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581650" y="1624757"/>
            <a:ext cx="139903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450"/>
              </a:spcBef>
              <a:spcAft>
                <a:spcPts val="1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581650" y="1830437"/>
            <a:ext cx="13990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5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0.552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581650" y="2116187"/>
            <a:ext cx="139903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EJBI</a:t>
            </a:r>
            <a:endParaRPr lang="en-US" sz="675" dirty="0"/>
          </a:p>
        </p:txBody>
      </p:sp>
      <p:sp>
        <p:nvSpPr>
          <p:cNvPr id="20" name="Text 17"/>
          <p:cNvSpPr/>
          <p:nvPr/>
        </p:nvSpPr>
        <p:spPr>
          <a:xfrm>
            <a:off x="7162800" y="1281857"/>
            <a:ext cx="1600200" cy="1068586"/>
          </a:xfrm>
          <a:prstGeom prst="roundRect">
            <a:avLst>
              <a:gd name="adj" fmla="val 5348"/>
            </a:avLst>
          </a:prstGeom>
          <a:solidFill>
            <a:srgbClr val="FFB07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7277100" y="1624757"/>
            <a:ext cx="139903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450"/>
              </a:spcBef>
              <a:spcAft>
                <a:spcPts val="150"/>
              </a:spcAft>
              <a:buNone/>
            </a:pPr>
            <a:r>
              <a:rPr lang="en-US" sz="10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Bernardino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7277100" y="1830437"/>
            <a:ext cx="13990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5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0.538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277100" y="2116187"/>
            <a:ext cx="139903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Triple Threat</a:t>
            </a:r>
            <a:endParaRPr lang="en-US" sz="675" dirty="0"/>
          </a:p>
        </p:txBody>
      </p:sp>
      <p:sp>
        <p:nvSpPr>
          <p:cNvPr id="24" name="Text 21"/>
          <p:cNvSpPr/>
          <p:nvPr/>
        </p:nvSpPr>
        <p:spPr>
          <a:xfrm>
            <a:off x="381000" y="3435548"/>
            <a:ext cx="2717750" cy="679996"/>
          </a:xfrm>
          <a:prstGeom prst="roundRect">
            <a:avLst>
              <a:gd name="adj" fmla="val 5603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2"/>
          <p:cNvSpPr/>
          <p:nvPr/>
        </p:nvSpPr>
        <p:spPr>
          <a:xfrm>
            <a:off x="395288" y="3435548"/>
            <a:ext cx="0" cy="679996"/>
          </a:xfrm>
          <a:prstGeom prst="line">
            <a:avLst/>
          </a:prstGeom>
          <a:noFill/>
          <a:ln w="28575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23875" y="3549848"/>
            <a:ext cx="25097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Valley Pattern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523875" y="3734544"/>
            <a:ext cx="250978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Kern, Fresno, Tulare show high EJBI + heat stress from agricultural pollution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3213050" y="3435548"/>
            <a:ext cx="2717750" cy="679996"/>
          </a:xfrm>
          <a:prstGeom prst="roundRect">
            <a:avLst>
              <a:gd name="adj" fmla="val 5603"/>
            </a:avLst>
          </a:prstGeom>
          <a:solidFill>
            <a:srgbClr val="FEF3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6"/>
          <p:cNvSpPr/>
          <p:nvPr/>
        </p:nvSpPr>
        <p:spPr>
          <a:xfrm>
            <a:off x="3227338" y="3435548"/>
            <a:ext cx="0" cy="679996"/>
          </a:xfrm>
          <a:prstGeom prst="line">
            <a:avLst/>
          </a:prstGeom>
          <a:noFill/>
          <a:ln w="28575">
            <a:solidFill>
              <a:srgbClr val="D719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3355925" y="3549848"/>
            <a:ext cx="25097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D7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Wildfire Impact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3355925" y="3734544"/>
            <a:ext cx="250978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Butte (Camp Fire), Mendocino show extreme wildfire burden despite lower baseline EJ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6045101" y="3435548"/>
            <a:ext cx="2717750" cy="679996"/>
          </a:xfrm>
          <a:prstGeom prst="roundRect">
            <a:avLst>
              <a:gd name="adj" fmla="val 5603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Shape 30"/>
          <p:cNvSpPr/>
          <p:nvPr/>
        </p:nvSpPr>
        <p:spPr>
          <a:xfrm>
            <a:off x="6059388" y="3435548"/>
            <a:ext cx="0" cy="679996"/>
          </a:xfrm>
          <a:prstGeom prst="line">
            <a:avLst/>
          </a:prstGeom>
          <a:noFill/>
          <a:ln w="28575">
            <a:solidFill>
              <a:srgbClr val="2C7B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6187976" y="3549848"/>
            <a:ext cx="25097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2C7B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Compound Risk</a:t>
            </a:r>
            <a:endParaRPr lang="en-US" sz="825" dirty="0"/>
          </a:p>
        </p:txBody>
      </p:sp>
      <p:sp>
        <p:nvSpPr>
          <p:cNvPr id="35" name="Text 32"/>
          <p:cNvSpPr/>
          <p:nvPr/>
        </p:nvSpPr>
        <p:spPr>
          <a:xfrm>
            <a:off x="6187976" y="3734544"/>
            <a:ext cx="250978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LA, San Bernardino face overlapping hazards: heat, fire, EJ burden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854964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1000" y="868561"/>
            <a:ext cx="2717750" cy="754261"/>
          </a:xfrm>
          <a:prstGeom prst="roundRect">
            <a:avLst>
              <a:gd name="adj" fmla="val 7577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70408" y="982861"/>
            <a:ext cx="253893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97.2%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70408" y="1375172"/>
            <a:ext cx="25389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PCA Variance Retained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213050" y="868561"/>
            <a:ext cx="2717750" cy="754261"/>
          </a:xfrm>
          <a:prstGeom prst="roundRect">
            <a:avLst>
              <a:gd name="adj" fmla="val 7577"/>
            </a:avLst>
          </a:prstGeom>
          <a:solidFill>
            <a:srgbClr val="E8F8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302459" y="982861"/>
            <a:ext cx="253893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80.0%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3302459" y="1375172"/>
            <a:ext cx="25389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Accuracy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045101" y="868561"/>
            <a:ext cx="2717750" cy="754261"/>
          </a:xfrm>
          <a:prstGeom prst="roundRect">
            <a:avLst>
              <a:gd name="adj" fmla="val 7577"/>
            </a:avLst>
          </a:prstGeom>
          <a:solidFill>
            <a:srgbClr val="FEF3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134509" y="982861"/>
            <a:ext cx="253893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D7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134509" y="1375172"/>
            <a:ext cx="25389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High-Risk Counties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81000" y="2381101"/>
            <a:ext cx="8382000" cy="502890"/>
          </a:xfrm>
          <a:prstGeom prst="roundRect">
            <a:avLst>
              <a:gd name="adj" fmla="val 7576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52500" y="2476351"/>
            <a:ext cx="442799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Data Integration Works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52500" y="2655391"/>
            <a:ext cx="44279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CalEnviroScreen, CAL FIRE, and NOAA data effectively combined for comprehensive risk assessment.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81000" y="2979241"/>
            <a:ext cx="8382000" cy="502890"/>
          </a:xfrm>
          <a:prstGeom prst="roundRect">
            <a:avLst>
              <a:gd name="adj" fmla="val 7576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52500" y="3074491"/>
            <a:ext cx="475315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PCA Reveals Distinct Risk Dimensions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52500" y="3253532"/>
            <a:ext cx="47531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PC1 = socioeconomic vulnerability, PC2 = wildfire hazards, PC3 = flood risk — enabling targeted interventions.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81000" y="3577382"/>
            <a:ext cx="8382000" cy="502890"/>
          </a:xfrm>
          <a:prstGeom prst="roundRect">
            <a:avLst>
              <a:gd name="adj" fmla="val 7576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52500" y="3672632"/>
            <a:ext cx="416901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Actionable Results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52500" y="3851672"/>
            <a:ext cx="41690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Angeles, Butte, Riverside, Kern, San Bernardino are priority targets for Justice40 investment.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81000" y="4175522"/>
            <a:ext cx="8382000" cy="285750"/>
          </a:xfrm>
          <a:prstGeom prst="roundRect">
            <a:avLst>
              <a:gd name="adj" fmla="val 13333"/>
            </a:avLst>
          </a:prstGeom>
          <a:solidFill>
            <a:srgbClr val="FFF9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95288" y="4175522"/>
            <a:ext cx="0" cy="285750"/>
          </a:xfrm>
          <a:prstGeom prst="line">
            <a:avLst/>
          </a:prstGeom>
          <a:noFill/>
          <a:ln w="28575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2925" y="4251722"/>
            <a:ext cx="44282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Limitation:</a:t>
            </a: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County-level (n=58) limits NN performance. Census tract analysis would improve accuracy.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94265" y="310902"/>
            <a:ext cx="1755469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227860" y="1019473"/>
            <a:ext cx="68813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Aft>
                <a:spcPts val="1800"/>
              </a:spcAft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238250" y="1968103"/>
            <a:ext cx="6667500" cy="1241673"/>
          </a:xfrm>
          <a:prstGeom prst="roundRect">
            <a:avLst>
              <a:gd name="adj" fmla="val 4603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365885" y="2101453"/>
            <a:ext cx="64122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1365885" y="2324249"/>
            <a:ext cx="641223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California OEHHA. (2021). CalEnviroScreen 4.0. oehha.ca.gov/calenviroscreen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1365885" y="2482304"/>
            <a:ext cx="641223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CAL FIRE. (2025). California Fire Incidents Database. fire.ca.gov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1365885" y="2640360"/>
            <a:ext cx="641223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NOAA NCEI. (2024). Storm Events Database. ncdc.noaa.gov/stormevents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1365885" y="2798415"/>
            <a:ext cx="641223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Jolliffe, I. T. (2016). Principal component analysis. Phil. Trans. R. Soc. A, 374.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1365885" y="2956471"/>
            <a:ext cx="641223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White House. (2021). Executive Order 14008: Justice40 Initiative.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3862618" y="3590776"/>
            <a:ext cx="141861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Victoria Love Franklin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62618" y="3967907"/>
            <a:ext cx="141861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150"/>
              </a:spcAft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Victoria.franklin@mmc.edu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176751" y="4305797"/>
            <a:ext cx="2790497" cy="127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55"/>
              </a:lnSpc>
              <a:spcAft>
                <a:spcPts val="1200"/>
              </a:spcAft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https://github.com/victorialovefranklin/SEGDAMSBD566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678</Words>
  <Application>Microsoft Office PowerPoint</Application>
  <PresentationFormat>On-screen Show (16:9)</PresentationFormat>
  <Paragraphs>156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Meharry Medical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Climate Risk Prediction in California</dc:title>
  <dc:subject>MSBD566 Final Project</dc:subject>
  <dc:creator>Victoria Love Franklin</dc:creator>
  <cp:lastModifiedBy>Franklin, Victoria</cp:lastModifiedBy>
  <cp:revision>2</cp:revision>
  <dcterms:created xsi:type="dcterms:W3CDTF">2025-12-28T20:24:40Z</dcterms:created>
  <dcterms:modified xsi:type="dcterms:W3CDTF">2025-12-28T20:29:59Z</dcterms:modified>
</cp:coreProperties>
</file>